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754" y="1016955"/>
            <a:ext cx="6855716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7222" y="4869030"/>
            <a:ext cx="5364023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5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1" y="6492240"/>
            <a:ext cx="643651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31" y="6477000"/>
            <a:ext cx="14144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4" y="6492241"/>
            <a:ext cx="492916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6832531" y="6155911"/>
            <a:ext cx="231146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2600809" y="6155911"/>
            <a:ext cx="4231717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686428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9" y="1016956"/>
            <a:ext cx="83439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7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48" y="1748474"/>
            <a:ext cx="83439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475523" y="565606"/>
            <a:ext cx="866847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37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050" y="4572000"/>
            <a:ext cx="83439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50" y="5715000"/>
            <a:ext cx="83439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5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9143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0050" y="6477001"/>
            <a:ext cx="643247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832527" y="6477000"/>
            <a:ext cx="141041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246982" y="6477001"/>
            <a:ext cx="49696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64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9553" y="1016956"/>
            <a:ext cx="2904398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75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9553" y="5134926"/>
            <a:ext cx="2901315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5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418071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5953" y="6477000"/>
            <a:ext cx="1421885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43801" y="6477000"/>
            <a:ext cx="70319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4" y="6477001"/>
            <a:ext cx="49291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866847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968251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0050" y="1143000"/>
            <a:ext cx="6432477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0"/>
            <a:ext cx="643247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31" y="6492240"/>
            <a:ext cx="141850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3" y="6492240"/>
            <a:ext cx="49291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475522" y="570038"/>
            <a:ext cx="6357005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6832527" y="570038"/>
            <a:ext cx="2311473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855384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6832526" y="0"/>
            <a:ext cx="231147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49" y="1016955"/>
            <a:ext cx="6146735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0049" y="2510473"/>
            <a:ext cx="6142872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1pPr>
            <a:lvl2pPr marL="51435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2pPr>
            <a:lvl3pPr marL="600075" indent="-257175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3pPr>
            <a:lvl4pPr marL="771525" indent="-257175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4pPr>
            <a:lvl5pPr marL="942975" indent="-257175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49" y="6492241"/>
            <a:ext cx="431886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8914" y="6492240"/>
            <a:ext cx="1322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45953" y="6492241"/>
            <a:ext cx="49696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475522" y="2144715"/>
            <a:ext cx="6357005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083217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7638" y="1386842"/>
            <a:ext cx="4736312" cy="1127758"/>
          </a:xfrm>
        </p:spPr>
        <p:txBody>
          <a:bodyPr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330041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07638" y="2886090"/>
            <a:ext cx="473631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1pPr>
            <a:lvl2pPr marL="428625" indent="-257175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2pPr>
            <a:lvl3pPr marL="600075" indent="-257175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3pPr>
            <a:lvl4pPr marL="771525" indent="-257175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7639" y="6477001"/>
            <a:ext cx="2828929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616" y="6477001"/>
            <a:ext cx="1406370" cy="381001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6989" y="6477001"/>
            <a:ext cx="496961" cy="381001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3300415" y="2496190"/>
            <a:ext cx="584358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41668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1016955"/>
            <a:ext cx="2618654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7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1895" y="1016956"/>
            <a:ext cx="5022055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77001"/>
            <a:ext cx="6432478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77001"/>
            <a:ext cx="1418504" cy="381001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0" y="6477001"/>
            <a:ext cx="492920" cy="381001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3018703" y="570037"/>
            <a:ext cx="6125297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475523" y="570037"/>
            <a:ext cx="2543181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17120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9" y="1016956"/>
            <a:ext cx="2614615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7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1894" y="1016955"/>
            <a:ext cx="5022056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77001"/>
            <a:ext cx="6432478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77001"/>
            <a:ext cx="1418504" cy="381001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0" y="6477001"/>
            <a:ext cx="492920" cy="381001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3012982" y="565607"/>
            <a:ext cx="6131018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475523" y="570037"/>
            <a:ext cx="2543181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23670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1892" y="1016956"/>
            <a:ext cx="502205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300416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21892" y="2145669"/>
            <a:ext cx="5017419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723077" y="6477000"/>
            <a:ext cx="3530929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54010" y="6477000"/>
            <a:ext cx="997024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251035" y="6477000"/>
            <a:ext cx="49291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3306171" y="570993"/>
            <a:ext cx="5356548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1712" y="570991"/>
            <a:ext cx="330788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61978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123" y="1016955"/>
            <a:ext cx="5269828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2998600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4126" y="2145669"/>
            <a:ext cx="5269824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474126" y="6477000"/>
            <a:ext cx="406967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543803" y="6477000"/>
            <a:ext cx="707228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251030" y="6477000"/>
            <a:ext cx="4929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301466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2997927" y="570992"/>
            <a:ext cx="567054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558920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1" y="1016956"/>
            <a:ext cx="51435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0051" y="2145668"/>
            <a:ext cx="51435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0051" y="6464300"/>
            <a:ext cx="4025036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425087" y="6464300"/>
            <a:ext cx="696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22068" y="6464300"/>
            <a:ext cx="42148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45400" y="1"/>
            <a:ext cx="2998600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6129335" y="570992"/>
            <a:ext cx="301466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474853" y="570992"/>
            <a:ext cx="567054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778334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1" y="1016955"/>
            <a:ext cx="3430079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7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0051" y="2495233"/>
            <a:ext cx="3430079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77000"/>
            <a:ext cx="219116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1210" y="6477000"/>
            <a:ext cx="8257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14984" y="6477000"/>
            <a:ext cx="41419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4196" y="0"/>
            <a:ext cx="489980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473554" y="570990"/>
            <a:ext cx="3768671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318486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956" y="1016955"/>
            <a:ext cx="2584452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7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0050" y="2495233"/>
            <a:ext cx="2584452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0050" y="6477000"/>
            <a:ext cx="155758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957633" y="6477000"/>
            <a:ext cx="71232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669958" y="6477000"/>
            <a:ext cx="321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52234" y="0"/>
            <a:ext cx="5688108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461773" y="570989"/>
            <a:ext cx="299046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485713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6046" y="1016956"/>
            <a:ext cx="2077904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244742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66791" y="3011335"/>
            <a:ext cx="2077158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171450" indent="0">
              <a:buNone/>
              <a:defRPr lang="en-US" dirty="0">
                <a:solidFill>
                  <a:schemeClr val="tx2"/>
                </a:solidFill>
              </a:defRPr>
            </a:lvl2pPr>
            <a:lvl3pPr marL="342900" indent="0">
              <a:buNone/>
              <a:defRPr lang="en-US" dirty="0">
                <a:solidFill>
                  <a:schemeClr val="tx2"/>
                </a:solidFill>
              </a:defRPr>
            </a:lvl3pPr>
            <a:lvl4pPr marL="514350" indent="0">
              <a:buNone/>
              <a:defRPr lang="en-US" dirty="0">
                <a:solidFill>
                  <a:schemeClr val="tx2"/>
                </a:solidFill>
              </a:defRPr>
            </a:lvl4pPr>
            <a:lvl5pPr marL="6858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66046" y="6477000"/>
            <a:ext cx="105334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9392" y="6477000"/>
            <a:ext cx="53164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5" y="6477000"/>
            <a:ext cx="49291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6244742" y="570989"/>
            <a:ext cx="2499208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788735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3623949"/>
            <a:ext cx="2614614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7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"/>
            <a:ext cx="9144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04452" y="3623949"/>
            <a:ext cx="5439498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171450" indent="0">
              <a:buNone/>
              <a:defRPr lang="en-US" dirty="0">
                <a:solidFill>
                  <a:schemeClr val="tx2"/>
                </a:solidFill>
              </a:defRPr>
            </a:lvl2pPr>
            <a:lvl3pPr marL="342900" indent="0">
              <a:buNone/>
              <a:defRPr lang="en-US" dirty="0">
                <a:solidFill>
                  <a:schemeClr val="tx2"/>
                </a:solidFill>
              </a:defRPr>
            </a:lvl3pPr>
            <a:lvl4pPr marL="514350" indent="0">
              <a:buNone/>
              <a:defRPr lang="en-US" dirty="0">
                <a:solidFill>
                  <a:schemeClr val="tx2"/>
                </a:solidFill>
              </a:defRPr>
            </a:lvl4pPr>
            <a:lvl5pPr marL="6858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77001"/>
            <a:ext cx="643247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77000"/>
            <a:ext cx="141850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0" y="6477001"/>
            <a:ext cx="492920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30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1" y="1016956"/>
            <a:ext cx="83438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9"/>
            <a:ext cx="4718909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171450" lvl="0" indent="-17145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32322" y="2145669"/>
            <a:ext cx="3611629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32322" y="6492240"/>
            <a:ext cx="241147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543798" y="6492240"/>
            <a:ext cx="7072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251035" y="6492240"/>
            <a:ext cx="49291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475523" y="565606"/>
            <a:ext cx="866847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1666748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1016956"/>
            <a:ext cx="2614615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7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5523" y="2495234"/>
            <a:ext cx="2539138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32107" y="1016954"/>
            <a:ext cx="5311843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77001"/>
            <a:ext cx="643247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77000"/>
            <a:ext cx="141850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0" y="6477001"/>
            <a:ext cx="492920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475523" y="565606"/>
            <a:ext cx="253914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3014661" y="565605"/>
            <a:ext cx="612934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7102185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221" y="5109525"/>
            <a:ext cx="6146729" cy="744634"/>
          </a:xfrm>
        </p:spPr>
        <p:txBody>
          <a:bodyPr anchor="b">
            <a:normAutofit/>
          </a:bodyPr>
          <a:lstStyle>
            <a:lvl1pPr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00050" y="533401"/>
            <a:ext cx="8343900" cy="4576763"/>
          </a:xfrm>
        </p:spPr>
        <p:txBody>
          <a:bodyPr>
            <a:normAutofit/>
          </a:bodyPr>
          <a:lstStyle>
            <a:lvl1pPr marL="0" indent="0">
              <a:buNone/>
              <a:defRPr sz="22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77001"/>
            <a:ext cx="643247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77000"/>
            <a:ext cx="141041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6982" y="6492241"/>
            <a:ext cx="49696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6832531" y="6155911"/>
            <a:ext cx="231146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2600809" y="6155911"/>
            <a:ext cx="4231717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4612709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1133856"/>
            <a:ext cx="798957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0050" y="1016956"/>
            <a:ext cx="83439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54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71450" indent="0">
              <a:lnSpc>
                <a:spcPct val="90000"/>
              </a:lnSpc>
              <a:spcBef>
                <a:spcPts val="0"/>
              </a:spcBef>
              <a:buNone/>
              <a:defRPr sz="54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42900" indent="0">
              <a:lnSpc>
                <a:spcPct val="90000"/>
              </a:lnSpc>
              <a:spcBef>
                <a:spcPts val="0"/>
              </a:spcBef>
              <a:buNone/>
              <a:defRPr sz="54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514350" indent="0">
              <a:lnSpc>
                <a:spcPct val="90000"/>
              </a:lnSpc>
              <a:spcBef>
                <a:spcPts val="0"/>
              </a:spcBef>
              <a:buNone/>
              <a:defRPr sz="54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85800" indent="0">
              <a:lnSpc>
                <a:spcPct val="90000"/>
              </a:lnSpc>
              <a:spcBef>
                <a:spcPts val="0"/>
              </a:spcBef>
              <a:buNone/>
              <a:defRPr sz="54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41850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6982" y="6492241"/>
            <a:ext cx="49696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6832531" y="6155911"/>
            <a:ext cx="231146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2600809" y="6155911"/>
            <a:ext cx="4231717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788413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0809" y="5216204"/>
            <a:ext cx="6143141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5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0049" y="1016955"/>
            <a:ext cx="83439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23444" indent="-123444">
              <a:lnSpc>
                <a:spcPct val="90000"/>
              </a:lnSpc>
              <a:spcBef>
                <a:spcPts val="0"/>
              </a:spcBef>
              <a:buNone/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409221" cy="365760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27" y="6492241"/>
            <a:ext cx="492923" cy="365760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6832531" y="6155911"/>
            <a:ext cx="231146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2600809" y="6155911"/>
            <a:ext cx="4231717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363408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9" y="1016956"/>
            <a:ext cx="83439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0049" y="1883248"/>
            <a:ext cx="3806429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37282" y="1883248"/>
            <a:ext cx="3806667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418504" cy="365760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6982" y="6492240"/>
            <a:ext cx="496968" cy="365761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475522" y="570038"/>
            <a:ext cx="6357005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6832527" y="570038"/>
            <a:ext cx="2311473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8262925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9" y="1016955"/>
            <a:ext cx="83439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049" y="1883249"/>
            <a:ext cx="380619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0049" y="2444434"/>
            <a:ext cx="3806429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37759" y="1883248"/>
            <a:ext cx="380619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37282" y="2444434"/>
            <a:ext cx="3806667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418504" cy="365760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0" y="6492241"/>
            <a:ext cx="492920" cy="365760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475522" y="570038"/>
            <a:ext cx="6357005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6832527" y="570038"/>
            <a:ext cx="2311473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4982518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9" y="1016956"/>
            <a:ext cx="83439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41850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6982" y="6492241"/>
            <a:ext cx="49696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475522" y="570038"/>
            <a:ext cx="6357005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6832527" y="570038"/>
            <a:ext cx="2311473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9344014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418504" cy="365760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0" y="6492241"/>
            <a:ext cx="492920" cy="365760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1736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9" y="1016956"/>
            <a:ext cx="83439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0049" y="3258190"/>
            <a:ext cx="83439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171450" indent="0">
              <a:buNone/>
              <a:defRPr>
                <a:solidFill>
                  <a:schemeClr val="tx2"/>
                </a:solidFill>
              </a:defRPr>
            </a:lvl2pPr>
            <a:lvl3pPr marL="342900" indent="0">
              <a:buNone/>
              <a:defRPr>
                <a:solidFill>
                  <a:schemeClr val="tx2"/>
                </a:solidFill>
              </a:defRPr>
            </a:lvl3pPr>
            <a:lvl4pPr marL="514350" indent="0">
              <a:buNone/>
              <a:defRPr>
                <a:solidFill>
                  <a:schemeClr val="tx2"/>
                </a:solidFill>
              </a:defRPr>
            </a:lvl4pPr>
            <a:lvl5pPr marL="685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12871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61242" y="6492241"/>
            <a:ext cx="78270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475522" y="570038"/>
            <a:ext cx="6357005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6832527" y="570038"/>
            <a:ext cx="2311473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158177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1016955"/>
            <a:ext cx="6432477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0050" y="4614992"/>
            <a:ext cx="6432380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71450" indent="0">
              <a:buNone/>
              <a:defRPr sz="15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42900" indent="0">
              <a:buNone/>
              <a:defRPr sz="15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514350" indent="0">
              <a:buNone/>
              <a:defRPr sz="15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85800" indent="0">
              <a:buNone/>
              <a:defRPr sz="15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41850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0" y="6492241"/>
            <a:ext cx="49292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475522" y="570038"/>
            <a:ext cx="6357005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6832527" y="570038"/>
            <a:ext cx="2311473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045373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9" y="1016956"/>
            <a:ext cx="83439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048" y="1748474"/>
            <a:ext cx="83439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0050" y="6476999"/>
            <a:ext cx="6432478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2528" y="6476999"/>
            <a:ext cx="1414463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51035" y="6476999"/>
            <a:ext cx="492916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08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</p:sldLayoutIdLst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27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34290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68580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439" y="1016955"/>
            <a:ext cx="8308258" cy="2778298"/>
          </a:xfrm>
        </p:spPr>
        <p:txBody>
          <a:bodyPr>
            <a:noAutofit/>
          </a:bodyPr>
          <a:lstStyle/>
          <a:p>
            <a:r>
              <a:rPr sz="4400" dirty="0"/>
              <a:t>Traffic Volume Estimation &amp; Short-Term Congestion Forecasting USING YOLO AND BYTETRACK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DSCI-41 Capstone Project-1</a:t>
            </a:r>
          </a:p>
          <a:p>
            <a:r>
              <a:rPr dirty="0"/>
              <a:t>Focus: </a:t>
            </a:r>
            <a:r>
              <a:rPr b="0" dirty="0"/>
              <a:t>Perception &amp; Baseline Pipeline (CP-1)</a:t>
            </a:r>
          </a:p>
          <a:p>
            <a:r>
              <a:rPr lang="en-US" dirty="0"/>
              <a:t>Project Supervisor: </a:t>
            </a:r>
            <a:r>
              <a:rPr lang="en-US" b="0" dirty="0"/>
              <a:t>T. Praveen Sharma</a:t>
            </a:r>
            <a:endParaRPr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48" y="1748473"/>
            <a:ext cx="8343902" cy="4691655"/>
          </a:xfrm>
        </p:spPr>
        <p:txBody>
          <a:bodyPr>
            <a:normAutofit/>
          </a:bodyPr>
          <a:lstStyle/>
          <a:p>
            <a:r>
              <a:rPr sz="2400" dirty="0"/>
              <a:t>The Problem: Reliable vehicle counting is critical for ITS but struggles with occlusions and varying vehicle sizes.</a:t>
            </a:r>
          </a:p>
          <a:p>
            <a:r>
              <a:rPr sz="2400" dirty="0"/>
              <a:t>The Solution: A real-time perception framework integrating YOLOv8 (Detection) and </a:t>
            </a:r>
            <a:r>
              <a:rPr sz="2400" dirty="0" err="1"/>
              <a:t>ByteTrack</a:t>
            </a:r>
            <a:r>
              <a:rPr sz="2400" dirty="0"/>
              <a:t> (Multi-Object Tracking).</a:t>
            </a:r>
          </a:p>
          <a:p>
            <a:r>
              <a:rPr sz="2400" dirty="0"/>
              <a:t>Dataset: Trained and validated using the Barbados Traffic Analysis dataset.</a:t>
            </a:r>
          </a:p>
          <a:p>
            <a:r>
              <a:rPr sz="2400" dirty="0"/>
              <a:t>How it Works: YOLOv8 classifies vehicles, while </a:t>
            </a:r>
            <a:r>
              <a:rPr sz="2400" dirty="0" err="1"/>
              <a:t>ByteTrack</a:t>
            </a:r>
            <a:r>
              <a:rPr sz="2400" dirty="0"/>
              <a:t> maintains consistent IDs across frames.</a:t>
            </a:r>
          </a:p>
          <a:p>
            <a:r>
              <a:rPr sz="2400" dirty="0"/>
              <a:t>The Output: Generates continuous, class-wise time-series traffic volumes for forecasting.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Traditional traffic sensors (like loop detectors) are expensive and difficult to maintain.</a:t>
            </a:r>
          </a:p>
          <a:p>
            <a:r>
              <a:rPr sz="2400" dirty="0"/>
              <a:t>Camera-based (CCTV) counting is a cheaper alternative, but existing models fail during:</a:t>
            </a:r>
          </a:p>
          <a:p>
            <a:r>
              <a:rPr sz="2400" dirty="0"/>
              <a:t>  • Heavy occlusion (vehicles blocking other vehicles).</a:t>
            </a:r>
          </a:p>
          <a:p>
            <a:r>
              <a:rPr sz="2400" dirty="0"/>
              <a:t>  • Adverse weather conditions (Rain, Night, Fog).</a:t>
            </a:r>
          </a:p>
          <a:p>
            <a:r>
              <a:rPr sz="2400" dirty="0"/>
              <a:t>  • Complex urban intersection layouts.</a:t>
            </a:r>
          </a:p>
          <a:p>
            <a:r>
              <a:rPr sz="2400" dirty="0"/>
              <a:t>Current object detectors provide 'hard counts' (1 or 0) which causes data instability during poor visibility, destroying the accuracy of congestion forecasting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800" b="1" dirty="0"/>
              <a:t>Objective 1 (Phase 1: Perception &amp; Baseline):</a:t>
            </a:r>
            <a:r>
              <a:rPr lang="en-IN" sz="2800" dirty="0"/>
              <a:t> To develop a highly accurate, real-time vehicle counting baseline using YOLOv8 and </a:t>
            </a:r>
            <a:r>
              <a:rPr lang="en-IN" sz="2800" dirty="0" err="1"/>
              <a:t>ByteTrack</a:t>
            </a:r>
            <a:r>
              <a:rPr lang="en-IN" sz="2800" dirty="0"/>
              <a:t>. This phase focuses on robust object detection, classifying multiple vehicle types, and maintaining consistent tracking across complex urban camera angles.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sz="2000" b="1" dirty="0"/>
              <a:t>1. Data Input:</a:t>
            </a:r>
            <a:r>
              <a:rPr lang="en-IN" sz="2000" dirty="0"/>
              <a:t> Continuous video streams from fixed roadside CCTV cameras.</a:t>
            </a:r>
          </a:p>
          <a:p>
            <a:pPr lvl="0"/>
            <a:r>
              <a:rPr lang="en-IN" sz="2000" b="1" dirty="0"/>
              <a:t>2. Vision Perception Module (YOLOv8):</a:t>
            </a:r>
            <a:endParaRPr lang="en-IN" sz="2000" dirty="0"/>
          </a:p>
          <a:p>
            <a:pPr lvl="1"/>
            <a:r>
              <a:rPr lang="en-IN" sz="2000" dirty="0"/>
              <a:t>Extracts spatial features from video frames.</a:t>
            </a:r>
          </a:p>
          <a:p>
            <a:pPr lvl="1"/>
            <a:r>
              <a:rPr lang="en-IN" sz="2000" dirty="0"/>
              <a:t>Performs high-precision bounding box localization and multi-class classification.</a:t>
            </a:r>
          </a:p>
          <a:p>
            <a:pPr lvl="0"/>
            <a:r>
              <a:rPr lang="en-IN" sz="2000" b="1" dirty="0"/>
              <a:t>3. Tracking &amp; Association (</a:t>
            </a:r>
            <a:r>
              <a:rPr lang="en-IN" sz="2000" b="1" dirty="0" err="1"/>
              <a:t>ByteTrack</a:t>
            </a:r>
            <a:r>
              <a:rPr lang="en-IN" sz="2000" b="1" dirty="0"/>
              <a:t>):</a:t>
            </a:r>
            <a:endParaRPr lang="en-IN" sz="2000" dirty="0"/>
          </a:p>
          <a:p>
            <a:pPr lvl="1"/>
            <a:r>
              <a:rPr lang="en-IN" sz="2000" dirty="0"/>
              <a:t>Takes the bounding boxes from YOLOv8.</a:t>
            </a:r>
          </a:p>
          <a:p>
            <a:pPr lvl="1"/>
            <a:r>
              <a:rPr lang="en-IN" sz="2000" dirty="0"/>
              <a:t>Maintains consistent object identities (IDs) as vehicles move across the screen.</a:t>
            </a:r>
          </a:p>
          <a:p>
            <a:pPr lvl="1"/>
            <a:r>
              <a:rPr lang="en-IN" sz="2000" dirty="0"/>
              <a:t>Mitigates identity loss (ID switching) when vehicles temporarily block each other (occlusion).</a:t>
            </a:r>
          </a:p>
          <a:p>
            <a:pPr lvl="0"/>
            <a:r>
              <a:rPr lang="en-IN" sz="2000" b="1" dirty="0"/>
              <a:t>4. Output Generation:</a:t>
            </a:r>
            <a:r>
              <a:rPr lang="en-IN" sz="2000" dirty="0"/>
              <a:t> Produces a continuous, class-wise traffic volume count (e.g., exactly how many cars, buses, and trucks passed through the intersection).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15</TotalTime>
  <Words>366</Words>
  <Application>Microsoft Office PowerPoint</Application>
  <PresentationFormat>On-screen Show (4:3)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Modulo</vt:lpstr>
      <vt:lpstr>Traffic Volume Estimation &amp; Short-Term Congestion Forecasting USING YOLO AND BYTETRACK</vt:lpstr>
      <vt:lpstr>Abstract</vt:lpstr>
      <vt:lpstr>Problem Statement</vt:lpstr>
      <vt:lpstr>Project Objectives</vt:lpstr>
      <vt:lpstr>Proposed Methodology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NOSSAM REVANTH KUMAR REDDY</cp:lastModifiedBy>
  <cp:revision>3</cp:revision>
  <dcterms:created xsi:type="dcterms:W3CDTF">2013-01-27T09:14:16Z</dcterms:created>
  <dcterms:modified xsi:type="dcterms:W3CDTF">2026-08-06T04:50:53Z</dcterms:modified>
  <cp:category/>
</cp:coreProperties>
</file>