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22" r:id="rId4"/>
    <p:sldId id="323" r:id="rId5"/>
    <p:sldId id="329" r:id="rId6"/>
    <p:sldId id="266" r:id="rId7"/>
    <p:sldId id="330" r:id="rId8"/>
    <p:sldId id="331" r:id="rId9"/>
    <p:sldId id="280" r:id="rId10"/>
    <p:sldId id="333" r:id="rId11"/>
    <p:sldId id="334" r:id="rId12"/>
    <p:sldId id="336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06" autoAdjust="0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4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4DFC54CC-D9E3-622D-778A-DB83E10B43B1}"/>
              </a:ext>
            </a:extLst>
          </p:cNvPr>
          <p:cNvSpPr txBox="1">
            <a:spLocks/>
          </p:cNvSpPr>
          <p:nvPr/>
        </p:nvSpPr>
        <p:spPr>
          <a:xfrm>
            <a:off x="961417" y="300399"/>
            <a:ext cx="10524518" cy="15980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600" b="1" dirty="0"/>
              <a:t>REVIEW-II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400" b="1" dirty="0"/>
              <a:t>Traffic Volume Estimation and</a:t>
            </a:r>
            <a:br>
              <a:rPr lang="en-US" sz="2400" b="1" dirty="0"/>
            </a:br>
            <a:r>
              <a:rPr lang="en-US" sz="2400" b="1" dirty="0"/>
              <a:t>Short-Term Congestion Forecasting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6C8134E-B41E-2457-E805-37406C34D258}"/>
              </a:ext>
            </a:extLst>
          </p:cNvPr>
          <p:cNvSpPr txBox="1">
            <a:spLocks/>
          </p:cNvSpPr>
          <p:nvPr/>
        </p:nvSpPr>
        <p:spPr>
          <a:xfrm>
            <a:off x="970335" y="1980379"/>
            <a:ext cx="10515600" cy="1097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>
                <a:latin typeface="Calibri"/>
              </a:rPr>
              <a:t>2300031316  |  2300033502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 sz="1800" dirty="0">
                <a:latin typeface="Calibri"/>
              </a:rPr>
              <a:t>2300033080  |  2300030938</a:t>
            </a:r>
          </a:p>
        </p:txBody>
      </p:sp>
      <p:sp>
        <p:nvSpPr>
          <p:cNvPr id="26" name="Date Placeholder 5">
            <a:extLst>
              <a:ext uri="{FF2B5EF4-FFF2-40B4-BE49-F238E27FC236}">
                <a16:creationId xmlns:a16="http://schemas.microsoft.com/office/drawing/2014/main" id="{F510EA9E-0C8E-67D3-DF6F-B7E6FEC9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BA4A5F1-5E40-D6BD-C3B1-039071A0E080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DCD98723-97AC-5ECB-EC75-23436C030B11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600" dirty="0">
                <a:latin typeface="Calibri"/>
              </a:rPr>
              <a:t>Under the Guidance of</a:t>
            </a:r>
          </a:p>
          <a:p>
            <a:pPr algn="ctr"/>
            <a:r>
              <a:rPr sz="2000" b="1" dirty="0">
                <a:latin typeface="Calibri"/>
              </a:rPr>
              <a:t>T. Praveen</a:t>
            </a:r>
          </a:p>
          <a:p>
            <a:pPr algn="ctr"/>
            <a:r>
              <a:rPr sz="1400" dirty="0">
                <a:latin typeface="Calibri"/>
              </a:rPr>
              <a:t>Department of Computer Science &amp; Engineering</a:t>
            </a:r>
            <a:r>
              <a:rPr lang="en-IN" sz="1400" dirty="0">
                <a:latin typeface="Calibri"/>
              </a:rPr>
              <a:t> - 2</a:t>
            </a:r>
            <a:endParaRPr sz="1400" dirty="0">
              <a:latin typeface="Calibri"/>
            </a:endParaRPr>
          </a:p>
        </p:txBody>
      </p:sp>
      <p:pic>
        <p:nvPicPr>
          <p:cNvPr id="29" name="Picture 28" descr="A picture containing shape&#10;&#10;Description automatically generated">
            <a:extLst>
              <a:ext uri="{FF2B5EF4-FFF2-40B4-BE49-F238E27FC236}">
                <a16:creationId xmlns:a16="http://schemas.microsoft.com/office/drawing/2014/main" id="{EA4BC432-229B-D395-7321-E0AB5B6D31B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D6708D0A-55B4-7C35-9A58-3E0FBAA9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Review-II                                                        Department of CSE-2</a:t>
            </a:r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C0EB09E7-698B-7257-C488-57D5F8F3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961B71F-4B40-8942-BB88-E0F5C0B46E10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32" name="Picture 31" descr="KL University Guntur: Courses, Fees, Admission 2026 ...">
            <a:extLst>
              <a:ext uri="{FF2B5EF4-FFF2-40B4-BE49-F238E27FC236}">
                <a16:creationId xmlns:a16="http://schemas.microsoft.com/office/drawing/2014/main" id="{63DD04BF-1C59-E63D-D367-76BCA7FEB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4946650"/>
            <a:ext cx="1725712" cy="10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sz="2400" b="1">
                <a:latin typeface="Calibri"/>
              </a:rPr>
              <a:t>Introduction</a:t>
            </a:r>
          </a:p>
          <a:p>
            <a:pPr algn="l"/>
            <a:r>
              <a:rPr sz="2400" b="1">
                <a:latin typeface="Calibri"/>
              </a:rPr>
              <a:t>Problem Statement &amp; Objectives</a:t>
            </a:r>
          </a:p>
          <a:p>
            <a:pPr algn="l"/>
            <a:r>
              <a:rPr sz="2400" b="1">
                <a:latin typeface="Calibri"/>
              </a:rPr>
              <a:t>Functional &amp; Non-Functional Requirements</a:t>
            </a:r>
          </a:p>
          <a:p>
            <a:pPr algn="l"/>
            <a:r>
              <a:rPr sz="2400" b="1">
                <a:latin typeface="Calibri"/>
              </a:rPr>
              <a:t>Alternative Solutions &amp; Trade-off Analysis</a:t>
            </a:r>
          </a:p>
          <a:p>
            <a:pPr algn="l"/>
            <a:r>
              <a:rPr sz="2400" b="1">
                <a:latin typeface="Calibri"/>
              </a:rPr>
              <a:t>Complete System Architecture</a:t>
            </a:r>
          </a:p>
          <a:p>
            <a:pPr algn="l"/>
            <a:r>
              <a:rPr sz="2400" b="1">
                <a:latin typeface="Calibri"/>
              </a:rPr>
              <a:t>Detailed Design &amp; Data Flow</a:t>
            </a:r>
          </a:p>
          <a:p>
            <a:pPr algn="l"/>
            <a:r>
              <a:rPr sz="2400" b="1">
                <a:latin typeface="Calibri"/>
              </a:rPr>
              <a:t>Implementation &amp; Unit-Level Progress (CP-1)</a:t>
            </a:r>
          </a:p>
          <a:p>
            <a:pPr algn="l"/>
            <a:r>
              <a:rPr sz="2400" b="1">
                <a:latin typeface="Calibri"/>
              </a:rPr>
              <a:t>Testing &amp; Results</a:t>
            </a:r>
          </a:p>
          <a:p>
            <a:pPr algn="l"/>
            <a:r>
              <a:rPr sz="2400" b="1">
                <a:latin typeface="Calibri"/>
              </a:rPr>
              <a:t>Conclusion &amp; Future Scope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2" name="Picture 1" descr="KL University Guntur: Courses, Fees, Admission 2026 ...">
            <a:extLst>
              <a:ext uri="{FF2B5EF4-FFF2-40B4-BE49-F238E27FC236}">
                <a16:creationId xmlns:a16="http://schemas.microsoft.com/office/drawing/2014/main" id="{040E3191-07C5-EAE5-E856-8F5C7110C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90675" cy="8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sz="2200" b="0">
                <a:latin typeface="Calibri"/>
              </a:rPr>
              <a:t>Traffic congestion is a growing urban challenge requiring real-time intelligent monitoring systems</a:t>
            </a:r>
          </a:p>
          <a:p>
            <a:pPr algn="l"/>
            <a:r>
              <a:rPr sz="2200" b="0">
                <a:latin typeface="Calibri"/>
              </a:rPr>
              <a:t>Computer Vision and Deep Learning enable automated, accurate, and real-time vehicle detection and tracking from CCTV footage</a:t>
            </a:r>
          </a:p>
          <a:p>
            <a:pPr algn="l"/>
            <a:r>
              <a:rPr sz="2200" b="0">
                <a:latin typeface="Calibri"/>
              </a:rPr>
              <a:t>Traditional manual counting methods are error-prone, labor-intensive, and cannot scale to modern traffic volumes</a:t>
            </a:r>
          </a:p>
          <a:p>
            <a:pPr algn="l"/>
            <a:r>
              <a:rPr sz="2200" b="0">
                <a:latin typeface="Calibri"/>
              </a:rPr>
              <a:t>This project builds an end-to-end pipeline using YOLO11 Large for object detection, ByteTrack for multi-object tracking, and vector-based line crossing for directional counting</a:t>
            </a:r>
          </a:p>
          <a:p>
            <a:pPr algn="l"/>
            <a:r>
              <a:rPr sz="2200" b="0">
                <a:latin typeface="Calibri"/>
              </a:rPr>
              <a:t>The system is specifically optimized to handle low-resolution (360p) CCTV footage commonly found in developing urban areas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1" descr="KL University Guntur: Courses, Fees, Admission 2026 ...">
            <a:extLst>
              <a:ext uri="{FF2B5EF4-FFF2-40B4-BE49-F238E27FC236}">
                <a16:creationId xmlns:a16="http://schemas.microsoft.com/office/drawing/2014/main" id="{1DE6236E-E9E2-30FD-D2E4-138C8254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PROBLEM STATEMENT &amp; 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sz="2400" b="1">
                <a:latin typeface="Calibri"/>
              </a:rPr>
              <a:t>Problem Statement:</a:t>
            </a:r>
          </a:p>
          <a:p>
            <a:pPr lvl="1" algn="l"/>
            <a:r>
              <a:rPr sz="2200" b="0">
                <a:latin typeface="Calibri"/>
              </a:rPr>
              <a:t>Existing traffic monitoring solutions fail on low-resolution CCTV footage (144p–360p) due to poor pixel density, causing missed detections and inaccurate counts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Objectives:</a:t>
            </a:r>
          </a:p>
          <a:p>
            <a:pPr lvl="1" algn="l"/>
            <a:r>
              <a:rPr sz="2200" b="0">
                <a:latin typeface="Calibri"/>
              </a:rPr>
              <a:t>Detect and classify vehicles (cars, motorcycles, buses, trucks) using YOLO11 Large model with adaptive resolution scaling</a:t>
            </a:r>
          </a:p>
          <a:p>
            <a:pPr lvl="1" algn="l"/>
            <a:r>
              <a:rPr sz="2200" b="0">
                <a:latin typeface="Calibri"/>
              </a:rPr>
              <a:t>Track vehicles across frames using ByteTrack with custom-tuned parameters for low-resolution video</a:t>
            </a:r>
          </a:p>
          <a:p>
            <a:pPr lvl="1" algn="l"/>
            <a:r>
              <a:rPr sz="2200" b="0">
                <a:latin typeface="Calibri"/>
              </a:rPr>
              <a:t>Count vehicles directionally (entering/exiting) using vector-based tripwire intersection logic</a:t>
            </a:r>
          </a:p>
          <a:p>
            <a:pPr lvl="1" algn="l"/>
            <a:r>
              <a:rPr sz="2200" b="0">
                <a:latin typeface="Calibri"/>
              </a:rPr>
              <a:t>Optimize the pipeline to work across any resolution from 144p to 4K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5681"/>
            <a:ext cx="2743200" cy="365125"/>
          </a:xfrm>
        </p:spPr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3522" cy="365125"/>
          </a:xfrm>
        </p:spPr>
        <p:txBody>
          <a:bodyPr/>
          <a:lstStyle/>
          <a:p>
            <a:r>
              <a:rPr lang="en-US"/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 descr="KL University Guntur: Courses, Fees, Admission 2026 ...">
            <a:extLst>
              <a:ext uri="{FF2B5EF4-FFF2-40B4-BE49-F238E27FC236}">
                <a16:creationId xmlns:a16="http://schemas.microsoft.com/office/drawing/2014/main" id="{FCB93B5A-9A72-9C33-CA9A-573546DE5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11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FUNCTIONAL &amp; NON-FUNCTIONAL REQUIREMENTS</a:t>
            </a:r>
            <a:br>
              <a:rPr lang="en-IN" b="1" dirty="0"/>
            </a:b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l">
              <a:buNone/>
            </a:pPr>
            <a:r>
              <a:rPr sz="2400" b="1">
                <a:latin typeface="Calibri"/>
              </a:rPr>
              <a:t>Functional Requirements:</a:t>
            </a:r>
            <a:endParaRPr lang="en-IN" b="1" dirty="0"/>
          </a:p>
          <a:p>
            <a:pPr lvl="1" algn="l"/>
            <a:r>
              <a:rPr sz="2200" b="0">
                <a:latin typeface="Calibri"/>
              </a:rPr>
              <a:t>Detect vehicles belonging to COCO classes 2, 3, 5, 7 (car, motorcycle, bus, truck)</a:t>
            </a:r>
          </a:p>
          <a:p>
            <a:pPr lvl="1" algn="l"/>
            <a:r>
              <a:rPr sz="2200" b="0">
                <a:latin typeface="Calibri"/>
              </a:rPr>
              <a:t>Assign persistent track IDs using ByteTrack across consecutive frames</a:t>
            </a:r>
          </a:p>
          <a:p>
            <a:pPr lvl="1" algn="l"/>
            <a:r>
              <a:rPr sz="2200" b="0">
                <a:latin typeface="Calibri"/>
              </a:rPr>
              <a:t>Count vehicles crossing a virtual tripwire with directional classification (entering/exiting)</a:t>
            </a:r>
          </a:p>
          <a:p>
            <a:pPr lvl="1" algn="l"/>
            <a:r>
              <a:rPr sz="2200" b="0">
                <a:latin typeface="Calibri"/>
              </a:rPr>
              <a:t>Adaptive preprocessing: apply Unsharp Mask for low-res, skip for HD/4K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Non-Functional Requirements:</a:t>
            </a:r>
          </a:p>
          <a:p>
            <a:pPr lvl="1" algn="l"/>
            <a:r>
              <a:rPr sz="2200" b="0">
                <a:latin typeface="Calibri"/>
              </a:rPr>
              <a:t>Process video at near real-time speed on a T4 GPU (Google Colab)</a:t>
            </a:r>
          </a:p>
          <a:p>
            <a:pPr lvl="1" algn="l"/>
            <a:r>
              <a:rPr sz="2200" b="0">
                <a:latin typeface="Calibri"/>
              </a:rPr>
              <a:t>Support Pause &amp; Resume without losing tracking state</a:t>
            </a:r>
          </a:p>
          <a:p>
            <a:pPr lvl="1" algn="l"/>
            <a:r>
              <a:rPr sz="2200" b="0">
                <a:latin typeface="Calibri"/>
              </a:rPr>
              <a:t>Modular, reusable code suitable for multiple camera feeds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5F77845A-18D6-2A92-CBE1-0BA5A5CF9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ALTERNATIVE SOLUTIONS &amp; TRADE-OFF 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0" algn="l">
              <a:buNone/>
            </a:pPr>
            <a:r>
              <a:rPr sz="2200" b="1">
                <a:latin typeface="Calibri"/>
              </a:rPr>
              <a:t>Approach 1: Background Subtraction (MOG2)</a:t>
            </a:r>
          </a:p>
          <a:p>
            <a:pPr lvl="1" algn="l"/>
            <a:r>
              <a:rPr sz="2200" b="0">
                <a:latin typeface="Calibri"/>
              </a:rPr>
              <a:t>Lightweight but fails under changing lighting, shadows, and low-res noise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200" b="1">
                <a:latin typeface="Calibri"/>
              </a:rPr>
              <a:t>Approach 2: YOLOv8 Extra Large + Simple ID Counting</a:t>
            </a:r>
          </a:p>
          <a:p>
            <a:pPr lvl="1" algn="l"/>
            <a:r>
              <a:rPr sz="2200" b="0">
                <a:latin typeface="Calibri"/>
              </a:rPr>
              <a:t>Strong detection accuracy but higher compute cost; simple ID counting still causes over-counting due to tracker ID fragmentation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200" b="1">
                <a:latin typeface="Calibri"/>
              </a:rPr>
              <a:t>Approach 3 (Selected): YOLO11 Large + ByteTrack + Vector Tripwire</a:t>
            </a:r>
          </a:p>
          <a:p>
            <a:pPr lvl="1" algn="l"/>
            <a:r>
              <a:rPr sz="2200" b="0">
                <a:latin typeface="Calibri"/>
              </a:rPr>
              <a:t>YOLO11 architecture offers improved feature extraction with lower compute overhead than YOLOv8x</a:t>
            </a:r>
          </a:p>
          <a:p>
            <a:pPr lvl="1" algn="l"/>
            <a:r>
              <a:rPr sz="2200" b="0">
                <a:latin typeface="Calibri"/>
              </a:rPr>
              <a:t>Custom ByteTrack tuning + Unsharp Mask preprocessing for low-res footage</a:t>
            </a:r>
          </a:p>
          <a:p>
            <a:pPr lvl="1" algn="l"/>
            <a:r>
              <a:rPr sz="2200" b="0">
                <a:latin typeface="Calibri"/>
              </a:rPr>
              <a:t>Vector-based line crossing eliminates double-counting from ID fragmentation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6DD692A6-15A5-BC54-1007-2069AC50E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0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marL="514350" indent="-514350" algn="ctr"/>
            <a:r>
              <a:rPr lang="en-US" b="1" dirty="0"/>
              <a:t>COMPLETE 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l">
              <a:buNone/>
            </a:pPr>
            <a:r>
              <a:rPr sz="2400" b="1">
                <a:latin typeface="Calibri"/>
              </a:rPr>
              <a:t>Technology Stack:</a:t>
            </a:r>
          </a:p>
          <a:p>
            <a:pPr lvl="1" algn="l"/>
            <a:r>
              <a:rPr sz="2200" b="0">
                <a:latin typeface="Calibri"/>
              </a:rPr>
              <a:t>Detection: Ultralytics YOLO11 Large (yolo11l.pt) - COCO pre-trained</a:t>
            </a:r>
          </a:p>
          <a:p>
            <a:pPr lvl="1" algn="l"/>
            <a:r>
              <a:rPr sz="2200" b="0">
                <a:latin typeface="Calibri"/>
              </a:rPr>
              <a:t>Tracking: ByteTrack with custom YAML config (track_low_thresh=0.05, track_buffer=90)</a:t>
            </a:r>
          </a:p>
          <a:p>
            <a:pPr lvl="1" algn="l"/>
            <a:r>
              <a:rPr sz="2200" b="0">
                <a:latin typeface="Calibri"/>
              </a:rPr>
              <a:t>Preprocessing: OpenCV Unsharp Mask (GaussianBlur + addWeighted)</a:t>
            </a:r>
          </a:p>
          <a:p>
            <a:pPr lvl="1" algn="l"/>
            <a:r>
              <a:rPr sz="2200" b="0">
                <a:latin typeface="Calibri"/>
              </a:rPr>
              <a:t>Counting: Vector-based CCW intersection algorithm with directional classification</a:t>
            </a:r>
          </a:p>
          <a:p>
            <a:pPr lvl="1" algn="l"/>
            <a:r>
              <a:rPr sz="2200" b="0">
                <a:latin typeface="Calibri"/>
              </a:rPr>
              <a:t>Runtime: Google Colab with T4 GPU, Python 3.13, Ultralytics latest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Pipeline Flow:</a:t>
            </a:r>
          </a:p>
          <a:p>
            <a:pPr lvl="1" algn="l"/>
            <a:r>
              <a:rPr sz="2200" b="0">
                <a:latin typeface="Calibri"/>
              </a:rPr>
              <a:t>Video Input &gt; Resolution Detection &gt; Adaptive Params &gt; Preprocessing &gt; YOLO11 Detection &gt; ByteTrack Tracking &gt; Tripwire Counting &gt; Output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41089752-4838-5B66-D127-9306AD90C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4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>
            <a:normAutofit/>
          </a:bodyPr>
          <a:lstStyle/>
          <a:p>
            <a:pPr marL="514350" indent="-514350" algn="ctr"/>
            <a:r>
              <a:rPr lang="en-IN" b="1" dirty="0"/>
              <a:t> </a:t>
            </a:r>
            <a:r>
              <a:rPr lang="en-US" b="1" dirty="0"/>
              <a:t>DETAILED DESIGN &amp; DATA FLOW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sz="2400" b="1">
                <a:latin typeface="Calibri"/>
              </a:rPr>
              <a:t>Adaptive Resolution Engine:</a:t>
            </a:r>
            <a:endParaRPr lang="en-IN" dirty="0"/>
          </a:p>
          <a:p>
            <a:pPr lvl="1" algn="l"/>
            <a:r>
              <a:rPr sz="2200" b="0">
                <a:latin typeface="Calibri"/>
              </a:rPr>
              <a:t>&lt; 480p (Low-Res): Unsharp Mask ON, imgsz=1280, conf=0.10</a:t>
            </a:r>
          </a:p>
          <a:p>
            <a:pPr lvl="1" algn="l"/>
            <a:r>
              <a:rPr sz="2200" b="0">
                <a:latin typeface="Calibri"/>
              </a:rPr>
              <a:t>480p–1080p (HD): No preprocessing, imgsz=1280, conf=0.25</a:t>
            </a:r>
          </a:p>
          <a:p>
            <a:pPr lvl="1" algn="l"/>
            <a:r>
              <a:rPr sz="2200" b="0">
                <a:latin typeface="Calibri"/>
              </a:rPr>
              <a:t>&gt; 1080p (4K/UHD): No preprocessing, imgsz=1920, conf=0.35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Custom ByteTrack Configuration:</a:t>
            </a:r>
          </a:p>
          <a:p>
            <a:pPr lvl="1" algn="l"/>
            <a:r>
              <a:rPr sz="2200" b="0">
                <a:latin typeface="Calibri"/>
              </a:rPr>
              <a:t>track_low_thresh=0.05 — retains very low-confidence detections for pixelated vehicles</a:t>
            </a:r>
          </a:p>
          <a:p>
            <a:pPr lvl="1" algn="l"/>
            <a:r>
              <a:rPr sz="2200" b="0">
                <a:latin typeface="Calibri"/>
              </a:rPr>
              <a:t>track_buffer=90 — keeps lost tracks alive for 90 frames (3 sec at 30fps)</a:t>
            </a:r>
          </a:p>
          <a:p>
            <a:pPr lvl="1" algn="l"/>
            <a:r>
              <a:rPr sz="2200" b="0">
                <a:latin typeface="Calibri"/>
              </a:rPr>
              <a:t>fuse_score=True — fuses detection confidence into the association step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Directional Counting:</a:t>
            </a:r>
          </a:p>
          <a:p>
            <a:pPr lvl="1" algn="l"/>
            <a:r>
              <a:rPr sz="2200" b="0">
                <a:latin typeface="Calibri"/>
              </a:rPr>
              <a:t>CCW (Counter-Clockwise) test determines if vehicle trajectory crosses the tripwire</a:t>
            </a:r>
          </a:p>
          <a:p>
            <a:pPr lvl="1" algn="l"/>
            <a:r>
              <a:rPr sz="2200" b="0">
                <a:latin typeface="Calibri"/>
              </a:rPr>
              <a:t>Cross-product of trajectory and tripwire vectors determines entering vs. exiting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A3A50F5C-9036-CBE1-3EA6-F797D45EA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3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ctr"/>
            <a:r>
              <a:rPr lang="en-US" b="1" dirty="0"/>
              <a:t>IMPLEMENTATION &amp; UNIT-LEVEL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sz="2400" b="1">
                <a:latin typeface="Calibri"/>
              </a:rPr>
              <a:t>CP-1 Completed Modules:</a:t>
            </a:r>
            <a:endParaRPr lang="en-US" dirty="0"/>
          </a:p>
          <a:p>
            <a:pPr lvl="1" algn="l"/>
            <a:r>
              <a:rPr sz="2200" b="0">
                <a:latin typeface="Calibri"/>
              </a:rPr>
              <a:t>Module 1: Google Drive Integration — mount, scan, and index all video files by camera</a:t>
            </a:r>
          </a:p>
          <a:p>
            <a:pPr lvl="1" algn="l"/>
            <a:r>
              <a:rPr sz="2200" b="0">
                <a:latin typeface="Calibri"/>
              </a:rPr>
              <a:t>Module 2: YOLO11 Large Model Loading - COCO vehicle class filtering (classes 2,3,5,7)</a:t>
            </a:r>
          </a:p>
          <a:p>
            <a:pPr lvl="1" algn="l"/>
            <a:r>
              <a:rPr sz="2200" b="0">
                <a:latin typeface="Calibri"/>
              </a:rPr>
              <a:t>Module 3: Adaptive Resolution Engine — auto-detects 144p to 4K and adjusts parameters</a:t>
            </a:r>
          </a:p>
          <a:p>
            <a:pPr lvl="1" algn="l"/>
            <a:r>
              <a:rPr sz="2200" b="0">
                <a:latin typeface="Calibri"/>
              </a:rPr>
              <a:t>Module 4: Unsharp Mask Preprocessing — edge sharpening for low-res frames</a:t>
            </a:r>
          </a:p>
          <a:p>
            <a:pPr lvl="1" algn="l"/>
            <a:r>
              <a:rPr sz="2200" b="0">
                <a:latin typeface="Calibri"/>
              </a:rPr>
              <a:t>Module 5: Custom ByteTrack Tracker — YAML config generation with tuned thresholds</a:t>
            </a:r>
          </a:p>
          <a:p>
            <a:pPr lvl="1" algn="l"/>
            <a:r>
              <a:rPr sz="2200" b="0">
                <a:latin typeface="Calibri"/>
              </a:rPr>
              <a:t>Module 6: Vector-Based Directional Counter — CCW + cross-product tripwire logic</a:t>
            </a:r>
          </a:p>
          <a:p>
            <a:pPr lvl="1" algn="l"/>
            <a:r>
              <a:rPr sz="2200" b="0">
                <a:latin typeface="Calibri"/>
              </a:rPr>
              <a:t>Module 7: Pause &amp; Resume System — global state manager with KeyboardInterrupt handling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38373F6D-CA48-0850-F181-AE9264F5A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TESTING&amp; RESULTS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400" b="1" dirty="0">
                <a:latin typeface="Calibri"/>
              </a:rPr>
              <a:t>Test Environment:</a:t>
            </a:r>
            <a:endParaRPr lang="en-US" dirty="0"/>
          </a:p>
          <a:p>
            <a:pPr lvl="1" algn="l"/>
            <a:r>
              <a:rPr sz="2200" b="0" dirty="0">
                <a:latin typeface="Calibri"/>
              </a:rPr>
              <a:t>Google </a:t>
            </a:r>
            <a:r>
              <a:rPr sz="2200" b="0" dirty="0" err="1">
                <a:latin typeface="Calibri"/>
              </a:rPr>
              <a:t>Colab</a:t>
            </a:r>
            <a:r>
              <a:rPr sz="2200" b="0" dirty="0">
                <a:latin typeface="Calibri"/>
              </a:rPr>
              <a:t> with NVIDIA T4 GPU (15GB VRAM)</a:t>
            </a:r>
          </a:p>
          <a:p>
            <a:pPr lvl="1" algn="l"/>
            <a:r>
              <a:rPr sz="2200" b="0" dirty="0">
                <a:latin typeface="Calibri"/>
              </a:rPr>
              <a:t>Test video: 960×540 resolution roundabout CCTV footage</a:t>
            </a:r>
          </a:p>
          <a:p>
            <a:pPr algn="l"/>
            <a:endParaRPr sz="2200" b="0" dirty="0">
              <a:latin typeface="Calibri"/>
            </a:endParaRPr>
          </a:p>
          <a:p>
            <a:pPr algn="l"/>
            <a:r>
              <a:rPr sz="2400" b="1" dirty="0">
                <a:latin typeface="Calibri"/>
              </a:rPr>
              <a:t>Key Results:</a:t>
            </a:r>
          </a:p>
          <a:p>
            <a:pPr lvl="1" algn="l"/>
            <a:r>
              <a:rPr sz="2200" b="0" dirty="0">
                <a:latin typeface="Calibri"/>
              </a:rPr>
              <a:t>YOLO11 Large successfully detects vehicles in both HD and low-res footage</a:t>
            </a:r>
          </a:p>
          <a:p>
            <a:pPr lvl="1" algn="l"/>
            <a:r>
              <a:rPr sz="2200" b="0" dirty="0">
                <a:latin typeface="Calibri"/>
              </a:rPr>
              <a:t>Custom </a:t>
            </a:r>
            <a:r>
              <a:rPr sz="2200" b="0" dirty="0" err="1">
                <a:latin typeface="Calibri"/>
              </a:rPr>
              <a:t>ByteTrack</a:t>
            </a:r>
            <a:r>
              <a:rPr sz="2200" b="0" dirty="0">
                <a:latin typeface="Calibri"/>
              </a:rPr>
              <a:t> config reduces ID fragmentation on pixelated vehicles</a:t>
            </a:r>
          </a:p>
          <a:p>
            <a:pPr lvl="1" algn="l"/>
            <a:r>
              <a:rPr sz="2200" b="0" dirty="0">
                <a:latin typeface="Calibri"/>
              </a:rPr>
              <a:t>Vector-based tripwire eliminates double-counting caused by tracker ID reassignment</a:t>
            </a:r>
          </a:p>
          <a:p>
            <a:pPr lvl="1" algn="l"/>
            <a:r>
              <a:rPr sz="2200" b="0" dirty="0">
                <a:latin typeface="Calibri"/>
              </a:rPr>
              <a:t>Pause &amp; Resume feature preserves full tracking state across interruptions</a:t>
            </a:r>
          </a:p>
          <a:p>
            <a:pPr lvl="1" algn="l"/>
            <a:r>
              <a:rPr sz="2200" b="0" dirty="0">
                <a:latin typeface="Calibri"/>
              </a:rPr>
              <a:t>Adaptive engine correctly selects parameters for 360p, 540p, 720p, and 1080p inputs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F08C08E9-966B-351C-0038-F1D489B6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CONCLUSION&amp; FUTURE SCOPE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sz="2400" b="1">
                <a:latin typeface="Calibri"/>
              </a:rPr>
              <a:t>Conclusion:</a:t>
            </a:r>
            <a:endParaRPr lang="en-US" dirty="0"/>
          </a:p>
          <a:p>
            <a:pPr lvl="1" algn="l"/>
            <a:r>
              <a:rPr sz="2200" b="0">
                <a:latin typeface="Calibri"/>
              </a:rPr>
              <a:t>Successfully built an end-to-end vehicle detection, tracking, and counting pipeline optimized for low-resolution CCTV footage</a:t>
            </a:r>
          </a:p>
          <a:p>
            <a:pPr lvl="1" algn="l"/>
            <a:r>
              <a:rPr sz="2200" b="0">
                <a:latin typeface="Calibri"/>
              </a:rPr>
              <a:t>The adaptive resolution engine makes the system resolution-agnostic (144p to 4K)</a:t>
            </a:r>
          </a:p>
          <a:p>
            <a:pPr lvl="1" algn="l"/>
            <a:r>
              <a:rPr sz="2200" b="0">
                <a:latin typeface="Calibri"/>
              </a:rPr>
              <a:t>Vector-based directional counting is significantly more accurate than simple ID-based methods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Future Scope (CP-2):</a:t>
            </a:r>
          </a:p>
          <a:p>
            <a:pPr lvl="1" algn="l"/>
            <a:r>
              <a:rPr sz="2200" b="0">
                <a:latin typeface="Calibri"/>
              </a:rPr>
              <a:t>Stopped Vehicle / Anomaly Detection for traffic safety monitoring</a:t>
            </a:r>
          </a:p>
          <a:p>
            <a:pPr lvl="1" algn="l"/>
            <a:r>
              <a:rPr sz="2200" b="0">
                <a:latin typeface="Calibri"/>
              </a:rPr>
              <a:t>Trajectory Heatmap Generation for spatial traffic flow analysis</a:t>
            </a:r>
          </a:p>
          <a:p>
            <a:pPr lvl="1" algn="l"/>
            <a:r>
              <a:rPr sz="2200" b="0">
                <a:latin typeface="Calibri"/>
              </a:rPr>
              <a:t>Speed Estimation using calibrated real-world distance markers</a:t>
            </a:r>
          </a:p>
          <a:p>
            <a:pPr lvl="1" algn="l"/>
            <a:r>
              <a:rPr sz="2200" b="0">
                <a:latin typeface="Calibri"/>
              </a:rPr>
              <a:t>Web Dashboard (Streamlit) for interactive visualization and reporting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23-09-2026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EDB97B66-C50D-CD5C-271D-11BBA7E8E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25735C75-4487-5B7D-EC2D-7F09444A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3016</TotalTime>
  <Words>1037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PowerPoint Presentation</vt:lpstr>
      <vt:lpstr>OUTLINE</vt:lpstr>
      <vt:lpstr>INTRODUCTION</vt:lpstr>
      <vt:lpstr>PROBLEM STATEMENT &amp; OBJECTIVES</vt:lpstr>
      <vt:lpstr>FUNCTIONAL &amp; NON-FUNCTIONAL REQUIREMENTS </vt:lpstr>
      <vt:lpstr>ALTERNATIVE SOLUTIONS &amp; TRADE-OFF ANALYSIS</vt:lpstr>
      <vt:lpstr>COMPLETE SYSTEM ARCHITECTURE</vt:lpstr>
      <vt:lpstr> DETAILED DESIGN &amp; DATA FLOW</vt:lpstr>
      <vt:lpstr>IMPLEMENTATION &amp; UNIT-LEVEL PROGRESS</vt:lpstr>
      <vt:lpstr>TESTING&amp; RESULTS  </vt:lpstr>
      <vt:lpstr>CONCLUSION&amp; FUTURE SCOPE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NOSSAM REVANTH KUMAR REDDY</cp:lastModifiedBy>
  <cp:revision>49</cp:revision>
  <dcterms:created xsi:type="dcterms:W3CDTF">2022-05-20T10:20:31Z</dcterms:created>
  <dcterms:modified xsi:type="dcterms:W3CDTF">2026-09-22T13:30:29Z</dcterms:modified>
</cp:coreProperties>
</file>