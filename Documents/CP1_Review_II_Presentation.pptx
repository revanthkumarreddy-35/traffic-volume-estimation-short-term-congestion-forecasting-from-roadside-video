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5"/>
  </p:notesMasterIdLst>
  <p:handoutMasterIdLst>
    <p:handoutMasterId r:id="rId16"/>
  </p:handoutMasterIdLst>
  <p:sldIdLst>
    <p:sldId id="258" r:id="rId3"/>
    <p:sldId id="322" r:id="rId4"/>
    <p:sldId id="323" r:id="rId5"/>
    <p:sldId id="329" r:id="rId6"/>
    <p:sldId id="266" r:id="rId7"/>
    <p:sldId id="330" r:id="rId8"/>
    <p:sldId id="331" r:id="rId9"/>
    <p:sldId id="280" r:id="rId10"/>
    <p:sldId id="333" r:id="rId11"/>
    <p:sldId id="334" r:id="rId12"/>
    <p:sldId id="336" r:id="rId13"/>
    <p:sldId id="33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06" autoAdjust="0"/>
    <p:restoredTop sz="95833"/>
  </p:normalViewPr>
  <p:slideViewPr>
    <p:cSldViewPr snapToGrid="0" snapToObjects="1">
      <p:cViewPr varScale="1">
        <p:scale>
          <a:sx n="82" d="100"/>
          <a:sy n="82" d="100"/>
        </p:scale>
        <p:origin x="50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21-09-2026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21-09-2026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417" y="300399"/>
            <a:ext cx="10524518" cy="1598052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sz="3600" b="1" dirty="0"/>
              <a:t>REVIEW-II</a:t>
            </a: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  <a:p>
            <a:pPr algn="ctr"/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  <a:p>
            <a:pPr algn="ctr"/>
            <a:r>
              <a:rPr lang="en-US" sz="2400" b="1" dirty="0"/>
              <a:t>Traffic Volume Estimation and</a:t>
            </a:r>
            <a:br>
              <a:rPr lang="en-US" sz="2400" b="1" dirty="0"/>
            </a:br>
            <a:r>
              <a:rPr lang="en-US" sz="2400" b="1" dirty="0"/>
              <a:t>Short-Term Congestion Forecasting</a:t>
            </a:r>
            <a:br>
              <a:rPr lang="en-US" sz="2400" b="1" dirty="0"/>
            </a:br>
            <a:endParaRPr lang="en-US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70335" y="1980379"/>
            <a:ext cx="10515600" cy="109755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sz="1800" dirty="0">
                <a:latin typeface="Calibri"/>
              </a:rPr>
              <a:t>2300031316  |  2300033502</a:t>
            </a:r>
          </a:p>
          <a:p>
            <a:pPr marL="0" indent="0" algn="ctr">
              <a:buNone/>
            </a:pPr>
            <a:r>
              <a:rPr sz="1800" dirty="0">
                <a:latin typeface="Calibri"/>
              </a:rPr>
              <a:t>2300033080  |  2300030938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21-09-2026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4F28400-FDB5-158C-D317-153E1B1CD072}"/>
              </a:ext>
            </a:extLst>
          </p:cNvPr>
          <p:cNvSpPr txBox="1">
            <a:spLocks/>
          </p:cNvSpPr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8465D1-CCC3-285A-3E29-8B23DC764FF6}"/>
              </a:ext>
            </a:extLst>
          </p:cNvPr>
          <p:cNvSpPr txBox="1">
            <a:spLocks/>
          </p:cNvSpPr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1600" dirty="0">
                <a:latin typeface="Calibri"/>
              </a:rPr>
              <a:t>Under the Guidance of</a:t>
            </a:r>
          </a:p>
          <a:p>
            <a:pPr algn="ctr"/>
            <a:r>
              <a:rPr sz="2000" b="1" dirty="0">
                <a:latin typeface="Calibri"/>
              </a:rPr>
              <a:t>T. Praveen</a:t>
            </a:r>
          </a:p>
          <a:p>
            <a:pPr algn="ctr"/>
            <a:r>
              <a:rPr sz="1400" dirty="0">
                <a:latin typeface="Calibri"/>
              </a:rPr>
              <a:t>Department of Computer Science &amp; Engineering</a:t>
            </a:r>
            <a:r>
              <a:rPr lang="en-IN" sz="1400" dirty="0">
                <a:latin typeface="Calibri"/>
              </a:rPr>
              <a:t> - 2</a:t>
            </a:r>
            <a:endParaRPr sz="1400" dirty="0">
              <a:latin typeface="Calibri"/>
            </a:endParaRPr>
          </a:p>
        </p:txBody>
      </p:sp>
      <p:pic>
        <p:nvPicPr>
          <p:cNvPr id="12" name="Picture 11" descr="A picture containing shape&#10;&#10;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356361" y="5015918"/>
            <a:ext cx="1725712" cy="93097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864F2-F4A5-DC53-C4B3-F9C0A49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Review-II                                                        Department of CSE-2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C41FE-7D1F-E7DF-F0EB-DE18D39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7" name="Picture 6" descr="KL University Guntur: Courses, Fees, Admission 2026 ...">
            <a:extLst>
              <a:ext uri="{FF2B5EF4-FFF2-40B4-BE49-F238E27FC236}">
                <a16:creationId xmlns:a16="http://schemas.microsoft.com/office/drawing/2014/main" id="{C33389CB-B4DE-D8DB-E9CD-7A933880C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361" y="4946650"/>
            <a:ext cx="1725712" cy="100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554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OUTLINE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/>
          </a:bodyPr>
          <a:lstStyle/>
          <a:p>
            <a:pPr marL="514350" indent="-514350" algn="l">
              <a:buFont typeface="+mj-lt"/>
              <a:buAutoNum type="arabicPeriod"/>
            </a:pPr>
            <a:r>
              <a:rPr sz="2400" b="1" dirty="0">
                <a:latin typeface="Calibri"/>
              </a:rPr>
              <a:t>Introduction</a:t>
            </a:r>
          </a:p>
          <a:p>
            <a:pPr algn="l"/>
            <a:r>
              <a:rPr sz="2400" b="1" dirty="0">
                <a:latin typeface="Calibri"/>
              </a:rPr>
              <a:t>Problem Statement &amp; Objectives</a:t>
            </a:r>
          </a:p>
          <a:p>
            <a:pPr algn="l"/>
            <a:r>
              <a:rPr sz="2400" b="1" dirty="0">
                <a:latin typeface="Calibri"/>
              </a:rPr>
              <a:t>Functional &amp; Non-Functional Requirements</a:t>
            </a:r>
          </a:p>
          <a:p>
            <a:pPr algn="l"/>
            <a:r>
              <a:rPr sz="2400" b="1" dirty="0">
                <a:latin typeface="Calibri"/>
              </a:rPr>
              <a:t>Alternative Solutions &amp; Trade-off Analysis</a:t>
            </a:r>
          </a:p>
          <a:p>
            <a:pPr algn="l"/>
            <a:r>
              <a:rPr sz="2400" b="1" dirty="0">
                <a:latin typeface="Calibri"/>
              </a:rPr>
              <a:t>Complete System Architecture</a:t>
            </a:r>
          </a:p>
          <a:p>
            <a:pPr algn="l"/>
            <a:r>
              <a:rPr sz="2400" b="1" dirty="0">
                <a:latin typeface="Calibri"/>
              </a:rPr>
              <a:t>Detailed Design &amp; Data Flow</a:t>
            </a:r>
          </a:p>
          <a:p>
            <a:pPr algn="l"/>
            <a:r>
              <a:rPr sz="2400" b="1" dirty="0">
                <a:latin typeface="Calibri"/>
              </a:rPr>
              <a:t>Implementation &amp; Unit-Level Progress (CP-1)</a:t>
            </a:r>
          </a:p>
          <a:p>
            <a:pPr algn="l"/>
            <a:r>
              <a:rPr sz="2400" b="1" dirty="0">
                <a:latin typeface="Calibri"/>
              </a:rPr>
              <a:t>Testing &amp; Results</a:t>
            </a:r>
          </a:p>
          <a:p>
            <a:pPr algn="l"/>
            <a:r>
              <a:rPr sz="2400" b="1" dirty="0">
                <a:latin typeface="Calibri"/>
              </a:rPr>
              <a:t>Conclusion &amp; Future Scope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2" name="Picture 1" descr="KL University Guntur: Courses, Fees, Admission 2026 ...">
            <a:extLst>
              <a:ext uri="{FF2B5EF4-FFF2-40B4-BE49-F238E27FC236}">
                <a16:creationId xmlns:a16="http://schemas.microsoft.com/office/drawing/2014/main" id="{040E3191-07C5-EAE5-E856-8F5C7110C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0"/>
            <a:ext cx="1590675" cy="8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39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INTRODUCTION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sz="2200" b="0">
                <a:latin typeface="Calibri"/>
              </a:rPr>
              <a:t>Traffic congestion is a growing urban challenge requiring real-time intelligent monitoring systems</a:t>
            </a:r>
          </a:p>
          <a:p>
            <a:pPr algn="l"/>
            <a:r>
              <a:rPr sz="2200" b="0">
                <a:latin typeface="Calibri"/>
              </a:rPr>
              <a:t>Traditional manual counting methods are error-prone, labor-intensive, and cannot scale to modern traffic volumes</a:t>
            </a:r>
          </a:p>
          <a:p>
            <a:pPr algn="l"/>
            <a:r>
              <a:rPr sz="2200" b="0">
                <a:latin typeface="Calibri"/>
              </a:rPr>
              <a:t>Computer Vision and Deep Learning enable automated, accurate, and real-time vehicle detection and tracking from CCTV footage</a:t>
            </a:r>
          </a:p>
          <a:p>
            <a:pPr algn="l"/>
            <a:r>
              <a:rPr sz="2200" b="0">
                <a:latin typeface="Calibri"/>
              </a:rPr>
              <a:t>This project builds an end-to-end pipeline using YOLOv8 Large for object detection, ByteTrack for multi-object tracking, and vector-based line crossing for directional counting</a:t>
            </a:r>
          </a:p>
          <a:p>
            <a:pPr algn="l"/>
            <a:r>
              <a:rPr sz="2200" b="0">
                <a:latin typeface="Calibri"/>
              </a:rPr>
              <a:t>The system is specifically optimized to handle low-resolution (360p) CCTV footage commonly found in developing urban areas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2" name="Picture 1" descr="KL University Guntur: Courses, Fees, Admission 2026 ...">
            <a:extLst>
              <a:ext uri="{FF2B5EF4-FFF2-40B4-BE49-F238E27FC236}">
                <a16:creationId xmlns:a16="http://schemas.microsoft.com/office/drawing/2014/main" id="{1DE6236E-E9E2-30FD-D2E4-138C8254E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0"/>
            <a:ext cx="158999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PROBLEM STATEMENT &amp; OBJECTIVES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algn="l">
              <a:buFont typeface="+mj-lt"/>
              <a:buAutoNum type="arabicPeriod"/>
            </a:pPr>
            <a:r>
              <a:rPr sz="2400" b="1" dirty="0">
                <a:latin typeface="Calibri"/>
              </a:rPr>
              <a:t>Problem Statement:</a:t>
            </a:r>
          </a:p>
          <a:p>
            <a:pPr lvl="1" algn="l"/>
            <a:r>
              <a:rPr sz="2200" b="0" dirty="0">
                <a:latin typeface="Calibri"/>
              </a:rPr>
              <a:t>Existing traffic monitoring solutions fail on low-resolution CCTV footage (144p–360p) due to poor pixel density, causing missed detections and inaccurate counts</a:t>
            </a:r>
          </a:p>
          <a:p>
            <a:pPr algn="l"/>
            <a:endParaRPr sz="2200" b="0" dirty="0">
              <a:latin typeface="Calibri"/>
            </a:endParaRPr>
          </a:p>
          <a:p>
            <a:pPr algn="l"/>
            <a:r>
              <a:rPr sz="2400" b="1" dirty="0">
                <a:latin typeface="Calibri"/>
              </a:rPr>
              <a:t>Objectives:</a:t>
            </a:r>
          </a:p>
          <a:p>
            <a:pPr lvl="1" algn="l"/>
            <a:r>
              <a:rPr sz="2200" b="0" dirty="0">
                <a:latin typeface="Calibri"/>
              </a:rPr>
              <a:t>Detect and classify vehicles (cars, motorcycles, buses, trucks) using </a:t>
            </a:r>
            <a:r>
              <a:rPr sz="2200" b="0" dirty="0" err="1">
                <a:latin typeface="Calibri"/>
              </a:rPr>
              <a:t>YOLOv</a:t>
            </a:r>
            <a:r>
              <a:rPr lang="en-IN" sz="2200" b="0" dirty="0">
                <a:latin typeface="Calibri"/>
              </a:rPr>
              <a:t>11</a:t>
            </a:r>
            <a:r>
              <a:rPr sz="2200" b="0" dirty="0">
                <a:latin typeface="Calibri"/>
              </a:rPr>
              <a:t> Large model with adaptive resolution scaling</a:t>
            </a:r>
          </a:p>
          <a:p>
            <a:pPr lvl="1" algn="l"/>
            <a:r>
              <a:rPr sz="2200" b="0" dirty="0">
                <a:latin typeface="Calibri"/>
              </a:rPr>
              <a:t>Track vehicles across frames using </a:t>
            </a:r>
            <a:r>
              <a:rPr sz="2200" b="0" dirty="0" err="1">
                <a:latin typeface="Calibri"/>
              </a:rPr>
              <a:t>ByteTrack</a:t>
            </a:r>
            <a:r>
              <a:rPr sz="2200" b="0" dirty="0">
                <a:latin typeface="Calibri"/>
              </a:rPr>
              <a:t> with custom-tuned parameters for low-resolution video</a:t>
            </a:r>
          </a:p>
          <a:p>
            <a:pPr lvl="1" algn="l"/>
            <a:r>
              <a:rPr sz="2200" b="0" dirty="0">
                <a:latin typeface="Calibri"/>
              </a:rPr>
              <a:t>Count vehicles directionally (entering/exiting) using vector-based tripwire intersection logic</a:t>
            </a:r>
          </a:p>
          <a:p>
            <a:pPr lvl="1" algn="l"/>
            <a:r>
              <a:rPr sz="2200" b="0" dirty="0">
                <a:latin typeface="Calibri"/>
              </a:rPr>
              <a:t>Optimize the pipeline to work across any resolution from 144p to 4K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323522" cy="365125"/>
          </a:xfrm>
        </p:spPr>
        <p:txBody>
          <a:bodyPr/>
          <a:lstStyle/>
          <a:p>
            <a:r>
              <a:rPr lang="en-US"/>
              <a:t>Review-II                                                        Department of CSE-2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" name="Picture 3" descr="KL University Guntur: Courses, Fees, Admission 2026 ...">
            <a:extLst>
              <a:ext uri="{FF2B5EF4-FFF2-40B4-BE49-F238E27FC236}">
                <a16:creationId xmlns:a16="http://schemas.microsoft.com/office/drawing/2014/main" id="{FCB93B5A-9A72-9C33-CA9A-573546DE5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0"/>
            <a:ext cx="158999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711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FUNCTIONAL &amp; NON-FUNCTIONAL REQUIREMENTS</a:t>
            </a:r>
            <a:br>
              <a:rPr lang="en-IN" b="1" dirty="0"/>
            </a:br>
            <a:endParaRPr lang="en-US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 algn="l">
              <a:buNone/>
            </a:pPr>
            <a:r>
              <a:rPr sz="2400" b="1" dirty="0">
                <a:latin typeface="Calibri"/>
              </a:rPr>
              <a:t>Functional Requirements:</a:t>
            </a:r>
            <a:endParaRPr lang="en-IN" b="1" dirty="0"/>
          </a:p>
          <a:p>
            <a:pPr lvl="1" algn="l"/>
            <a:r>
              <a:rPr sz="2200" b="0" dirty="0">
                <a:latin typeface="Calibri"/>
              </a:rPr>
              <a:t>Detect vehicles belonging to COCO classes 2, 3, 5, 7 (car, motorcycle, bus, truck)</a:t>
            </a:r>
          </a:p>
          <a:p>
            <a:pPr lvl="1" algn="l"/>
            <a:r>
              <a:rPr sz="2200" b="0" dirty="0">
                <a:latin typeface="Calibri"/>
              </a:rPr>
              <a:t>Assign persistent track IDs using </a:t>
            </a:r>
            <a:r>
              <a:rPr sz="2200" b="0" dirty="0" err="1">
                <a:latin typeface="Calibri"/>
              </a:rPr>
              <a:t>ByteTrack</a:t>
            </a:r>
            <a:r>
              <a:rPr sz="2200" b="0" dirty="0">
                <a:latin typeface="Calibri"/>
              </a:rPr>
              <a:t> across consecutive frames</a:t>
            </a:r>
          </a:p>
          <a:p>
            <a:pPr lvl="1" algn="l"/>
            <a:r>
              <a:rPr sz="2200" b="0" dirty="0">
                <a:latin typeface="Calibri"/>
              </a:rPr>
              <a:t>Count vehicles crossing a virtual tripwire with directional classification (entering/exiting)</a:t>
            </a:r>
          </a:p>
          <a:p>
            <a:pPr lvl="1" algn="l"/>
            <a:r>
              <a:rPr sz="2200" b="0" dirty="0">
                <a:latin typeface="Calibri"/>
              </a:rPr>
              <a:t>Adaptive preprocessing: apply Unsharp Mask for low-res, skip for HD/4K</a:t>
            </a:r>
          </a:p>
          <a:p>
            <a:pPr algn="l"/>
            <a:endParaRPr sz="2200" b="0" dirty="0">
              <a:latin typeface="Calibri"/>
            </a:endParaRPr>
          </a:p>
          <a:p>
            <a:pPr algn="l"/>
            <a:r>
              <a:rPr sz="2400" b="1" dirty="0">
                <a:latin typeface="Calibri"/>
              </a:rPr>
              <a:t>Non-Functional Requirements:</a:t>
            </a:r>
          </a:p>
          <a:p>
            <a:pPr lvl="1" algn="l"/>
            <a:r>
              <a:rPr sz="2200" b="0" dirty="0">
                <a:latin typeface="Calibri"/>
              </a:rPr>
              <a:t>Process video at near real-time speed on a T4 GPU (Google </a:t>
            </a:r>
            <a:r>
              <a:rPr sz="2200" b="0" dirty="0" err="1">
                <a:latin typeface="Calibri"/>
              </a:rPr>
              <a:t>Colab</a:t>
            </a:r>
            <a:r>
              <a:rPr sz="2200" b="0" dirty="0">
                <a:latin typeface="Calibri"/>
              </a:rPr>
              <a:t>)</a:t>
            </a:r>
          </a:p>
          <a:p>
            <a:pPr lvl="1" algn="l"/>
            <a:r>
              <a:rPr sz="2200" b="0" dirty="0">
                <a:latin typeface="Calibri"/>
              </a:rPr>
              <a:t>Support Pause &amp; Resume without losing tracking state</a:t>
            </a:r>
          </a:p>
          <a:p>
            <a:pPr lvl="1" algn="l"/>
            <a:r>
              <a:rPr sz="2200" b="0" dirty="0">
                <a:latin typeface="Calibri"/>
              </a:rPr>
              <a:t>Modular, reusable code suitable for multiple camera feeds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3" name="Picture 2" descr="KL University Guntur: Courses, Fees, Admission 2026 ...">
            <a:extLst>
              <a:ext uri="{FF2B5EF4-FFF2-40B4-BE49-F238E27FC236}">
                <a16:creationId xmlns:a16="http://schemas.microsoft.com/office/drawing/2014/main" id="{5F77845A-18D6-2A92-CBE1-0BA5A5CF9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0"/>
            <a:ext cx="158999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ALTERNATIVE SOLUTIONS &amp; TRADE-OFF ANALYSIS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 algn="l">
              <a:buNone/>
            </a:pPr>
            <a:r>
              <a:rPr sz="2200" b="1" dirty="0">
                <a:latin typeface="Calibri"/>
              </a:rPr>
              <a:t>Approach 1: Background Subtraction (MOG2)</a:t>
            </a:r>
          </a:p>
          <a:p>
            <a:pPr lvl="1" algn="l"/>
            <a:r>
              <a:rPr sz="2200" b="0" dirty="0">
                <a:latin typeface="Calibri"/>
              </a:rPr>
              <a:t>Lightweight but fails under changing lighting, shadows, and low-res noise</a:t>
            </a:r>
          </a:p>
          <a:p>
            <a:pPr algn="l"/>
            <a:endParaRPr sz="2200" b="0" dirty="0">
              <a:latin typeface="Calibri"/>
            </a:endParaRPr>
          </a:p>
          <a:p>
            <a:pPr algn="l"/>
            <a:r>
              <a:rPr sz="2200" b="1" dirty="0">
                <a:latin typeface="Calibri"/>
              </a:rPr>
              <a:t>Approach 2: </a:t>
            </a:r>
            <a:r>
              <a:rPr sz="2200" b="1" dirty="0" err="1">
                <a:latin typeface="Calibri"/>
              </a:rPr>
              <a:t>YOLOv</a:t>
            </a:r>
            <a:r>
              <a:rPr lang="en-IN" sz="2200" b="1" dirty="0">
                <a:latin typeface="Calibri"/>
              </a:rPr>
              <a:t>8</a:t>
            </a:r>
            <a:r>
              <a:rPr sz="2200" b="1" dirty="0">
                <a:latin typeface="Calibri"/>
              </a:rPr>
              <a:t> Nano + Simple ID Counting</a:t>
            </a:r>
          </a:p>
          <a:p>
            <a:pPr lvl="1" algn="l"/>
            <a:r>
              <a:rPr sz="2200" b="0" dirty="0">
                <a:latin typeface="Calibri"/>
              </a:rPr>
              <a:t>Fast inference but low detection accuracy on pixelated vehicles; ID fragmentation causes over-counting</a:t>
            </a:r>
          </a:p>
          <a:p>
            <a:pPr algn="l"/>
            <a:endParaRPr sz="2200" b="0" dirty="0">
              <a:latin typeface="Calibri"/>
            </a:endParaRPr>
          </a:p>
          <a:p>
            <a:pPr algn="l"/>
            <a:r>
              <a:rPr sz="2200" b="1" dirty="0">
                <a:latin typeface="Calibri"/>
              </a:rPr>
              <a:t>Approach 3 (Selected): YOLOv8 Large + </a:t>
            </a:r>
            <a:r>
              <a:rPr sz="2200" b="1" dirty="0" err="1">
                <a:latin typeface="Calibri"/>
              </a:rPr>
              <a:t>ByteTrack</a:t>
            </a:r>
            <a:r>
              <a:rPr sz="2200" b="1" dirty="0">
                <a:latin typeface="Calibri"/>
              </a:rPr>
              <a:t> + Vector Tripwire</a:t>
            </a:r>
          </a:p>
          <a:p>
            <a:pPr lvl="1" algn="l"/>
            <a:r>
              <a:rPr sz="2200" b="0" dirty="0">
                <a:latin typeface="Calibri"/>
              </a:rPr>
              <a:t>High detection accuracy with custom tracker tuning for low-res footage</a:t>
            </a:r>
          </a:p>
          <a:p>
            <a:pPr lvl="1" algn="l"/>
            <a:r>
              <a:rPr sz="2200" b="0" dirty="0">
                <a:latin typeface="Calibri"/>
              </a:rPr>
              <a:t>Unsharp Mask preprocessing recovers edge detail lost in compression</a:t>
            </a:r>
          </a:p>
          <a:p>
            <a:pPr lvl="1" algn="l"/>
            <a:r>
              <a:rPr sz="2200" b="0" dirty="0">
                <a:latin typeface="Calibri"/>
              </a:rPr>
              <a:t>Vector-based line crossing eliminates double-counting from ID fragmentation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3" name="Picture 2" descr="KL University Guntur: Courses, Fees, Admission 2026 ...">
            <a:extLst>
              <a:ext uri="{FF2B5EF4-FFF2-40B4-BE49-F238E27FC236}">
                <a16:creationId xmlns:a16="http://schemas.microsoft.com/office/drawing/2014/main" id="{6DD692A6-15A5-BC54-1007-2069AC50E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0"/>
            <a:ext cx="158999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801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marL="514350" indent="-514350" algn="ctr"/>
            <a:r>
              <a:rPr lang="en-US" b="1" dirty="0"/>
              <a:t>COMPLETE SYSTEM ARCHITECTURE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 algn="l">
              <a:buNone/>
            </a:pPr>
            <a:r>
              <a:rPr sz="2400" b="1">
                <a:latin typeface="Calibri"/>
              </a:rPr>
              <a:t>Technology Stack:</a:t>
            </a:r>
          </a:p>
          <a:p>
            <a:pPr lvl="1" algn="l"/>
            <a:r>
              <a:rPr sz="2200" b="0">
                <a:latin typeface="Calibri"/>
              </a:rPr>
              <a:t>Detection: Ultralytics YOLOv8 Large (yolov8l.pt) — COCO pre-trained</a:t>
            </a:r>
          </a:p>
          <a:p>
            <a:pPr lvl="1" algn="l"/>
            <a:r>
              <a:rPr sz="2200" b="0">
                <a:latin typeface="Calibri"/>
              </a:rPr>
              <a:t>Tracking: ByteTrack with custom YAML config (track_low_thresh=0.05, track_buffer=90)</a:t>
            </a:r>
          </a:p>
          <a:p>
            <a:pPr lvl="1" algn="l"/>
            <a:r>
              <a:rPr sz="2200" b="0">
                <a:latin typeface="Calibri"/>
              </a:rPr>
              <a:t>Preprocessing: OpenCV Unsharp Mask (GaussianBlur + addWeighted)</a:t>
            </a:r>
          </a:p>
          <a:p>
            <a:pPr lvl="1" algn="l"/>
            <a:r>
              <a:rPr sz="2200" b="0">
                <a:latin typeface="Calibri"/>
              </a:rPr>
              <a:t>Counting: Vector-based CCW intersection algorithm with directional classification</a:t>
            </a:r>
          </a:p>
          <a:p>
            <a:pPr lvl="1" algn="l"/>
            <a:r>
              <a:rPr sz="2200" b="0">
                <a:latin typeface="Calibri"/>
              </a:rPr>
              <a:t>Runtime: Google Colab with T4 GPU, Python 3.13</a:t>
            </a:r>
          </a:p>
          <a:p>
            <a:pPr algn="l"/>
            <a:endParaRPr sz="2200" b="0">
              <a:latin typeface="Calibri"/>
            </a:endParaRPr>
          </a:p>
          <a:p>
            <a:pPr algn="l"/>
            <a:r>
              <a:rPr sz="2400" b="1">
                <a:latin typeface="Calibri"/>
              </a:rPr>
              <a:t>Pipeline Flow:</a:t>
            </a:r>
          </a:p>
          <a:p>
            <a:pPr lvl="1" algn="l"/>
            <a:r>
              <a:rPr sz="2200" b="0">
                <a:latin typeface="Calibri"/>
              </a:rPr>
              <a:t>Video Input → Resolution Detection → Adaptive Params → Preprocessing → YOLOv8 Detection → ByteTrack Tracking → Tripwire Counting → Output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3" name="Picture 2" descr="KL University Guntur: Courses, Fees, Admission 2026 ...">
            <a:extLst>
              <a:ext uri="{FF2B5EF4-FFF2-40B4-BE49-F238E27FC236}">
                <a16:creationId xmlns:a16="http://schemas.microsoft.com/office/drawing/2014/main" id="{41089752-4838-5B66-D127-9306AD90C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0"/>
            <a:ext cx="158999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84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081" y="365125"/>
            <a:ext cx="10799521" cy="1128009"/>
          </a:xfrm>
        </p:spPr>
        <p:txBody>
          <a:bodyPr>
            <a:normAutofit/>
          </a:bodyPr>
          <a:lstStyle/>
          <a:p>
            <a:pPr marL="514350" indent="-514350" algn="ctr"/>
            <a:r>
              <a:rPr lang="en-IN" b="1" dirty="0"/>
              <a:t> </a:t>
            </a:r>
            <a:r>
              <a:rPr lang="en-US" b="1" dirty="0"/>
              <a:t>DETAILED DESIGN &amp; DATA FLOW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sz="2400" b="1">
                <a:latin typeface="Calibri"/>
              </a:rPr>
              <a:t>Adaptive Resolution Engine:</a:t>
            </a:r>
            <a:endParaRPr lang="en-IN" dirty="0"/>
          </a:p>
          <a:p>
            <a:pPr lvl="1" algn="l"/>
            <a:r>
              <a:rPr sz="2200" b="0">
                <a:latin typeface="Calibri"/>
              </a:rPr>
              <a:t>&lt; 480p (Low-Res): Unsharp Mask ON, imgsz=1280, conf=0.10</a:t>
            </a:r>
          </a:p>
          <a:p>
            <a:pPr lvl="1" algn="l"/>
            <a:r>
              <a:rPr sz="2200" b="0">
                <a:latin typeface="Calibri"/>
              </a:rPr>
              <a:t>480p–1080p (HD): No preprocessing, imgsz=1280, conf=0.25</a:t>
            </a:r>
          </a:p>
          <a:p>
            <a:pPr lvl="1" algn="l"/>
            <a:r>
              <a:rPr sz="2200" b="0">
                <a:latin typeface="Calibri"/>
              </a:rPr>
              <a:t>&gt; 1080p (4K/UHD): No preprocessing, imgsz=1920, conf=0.35</a:t>
            </a:r>
          </a:p>
          <a:p>
            <a:pPr algn="l"/>
            <a:endParaRPr sz="2200" b="0">
              <a:latin typeface="Calibri"/>
            </a:endParaRPr>
          </a:p>
          <a:p>
            <a:pPr algn="l"/>
            <a:r>
              <a:rPr sz="2400" b="1">
                <a:latin typeface="Calibri"/>
              </a:rPr>
              <a:t>Custom ByteTrack Configuration:</a:t>
            </a:r>
          </a:p>
          <a:p>
            <a:pPr lvl="1" algn="l"/>
            <a:r>
              <a:rPr sz="2200" b="0">
                <a:latin typeface="Calibri"/>
              </a:rPr>
              <a:t>track_low_thresh=0.05 — retains very low-confidence detections for pixelated vehicles</a:t>
            </a:r>
          </a:p>
          <a:p>
            <a:pPr lvl="1" algn="l"/>
            <a:r>
              <a:rPr sz="2200" b="0">
                <a:latin typeface="Calibri"/>
              </a:rPr>
              <a:t>track_buffer=90 — keeps lost tracks alive for 90 frames (3 sec at 30fps)</a:t>
            </a:r>
          </a:p>
          <a:p>
            <a:pPr lvl="1" algn="l"/>
            <a:r>
              <a:rPr sz="2200" b="0">
                <a:latin typeface="Calibri"/>
              </a:rPr>
              <a:t>fuse_score=True — fuses detection confidence into the association step</a:t>
            </a:r>
          </a:p>
          <a:p>
            <a:pPr algn="l"/>
            <a:endParaRPr sz="2200" b="0">
              <a:latin typeface="Calibri"/>
            </a:endParaRPr>
          </a:p>
          <a:p>
            <a:pPr algn="l"/>
            <a:r>
              <a:rPr sz="2400" b="1">
                <a:latin typeface="Calibri"/>
              </a:rPr>
              <a:t>Directional Counting:</a:t>
            </a:r>
          </a:p>
          <a:p>
            <a:pPr lvl="1" algn="l"/>
            <a:r>
              <a:rPr sz="2200" b="0">
                <a:latin typeface="Calibri"/>
              </a:rPr>
              <a:t>CCW (Counter-Clockwise) test determines if vehicle trajectory crosses the tripwire</a:t>
            </a:r>
          </a:p>
          <a:p>
            <a:pPr lvl="1" algn="l"/>
            <a:r>
              <a:rPr sz="2200" b="0">
                <a:latin typeface="Calibri"/>
              </a:rPr>
              <a:t>Cross-product of trajectory and tripwire vectors determines entering vs. exiting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3" name="Picture 2" descr="KL University Guntur: Courses, Fees, Admission 2026 ...">
            <a:extLst>
              <a:ext uri="{FF2B5EF4-FFF2-40B4-BE49-F238E27FC236}">
                <a16:creationId xmlns:a16="http://schemas.microsoft.com/office/drawing/2014/main" id="{A3A50F5C-9036-CBE1-3EA6-F797D45EA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0"/>
            <a:ext cx="158999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230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 algn="ctr"/>
            <a:r>
              <a:rPr lang="en-US" b="1" dirty="0"/>
              <a:t>IMPLEMENTATION &amp; UNIT-LEVEL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sz="2400" b="1">
                <a:latin typeface="Calibri"/>
              </a:rPr>
              <a:t>CP-1 Completed Modules:</a:t>
            </a:r>
            <a:endParaRPr lang="en-US" dirty="0"/>
          </a:p>
          <a:p>
            <a:pPr lvl="1" algn="l"/>
            <a:r>
              <a:rPr sz="2200" b="0">
                <a:latin typeface="Calibri"/>
              </a:rPr>
              <a:t>Module 1: Google Drive Integration — mount, scan, and index all video files by camera</a:t>
            </a:r>
          </a:p>
          <a:p>
            <a:pPr lvl="1" algn="l"/>
            <a:r>
              <a:rPr sz="2200" b="0">
                <a:latin typeface="Calibri"/>
              </a:rPr>
              <a:t>Module 2: YOLOv8 Large Model Loading — COCO vehicle class filtering (classes 2,3,5,7)</a:t>
            </a:r>
          </a:p>
          <a:p>
            <a:pPr lvl="1" algn="l"/>
            <a:r>
              <a:rPr sz="2200" b="0">
                <a:latin typeface="Calibri"/>
              </a:rPr>
              <a:t>Module 3: Adaptive Resolution Engine — auto-detects 144p to 4K and adjusts parameters</a:t>
            </a:r>
          </a:p>
          <a:p>
            <a:pPr lvl="1" algn="l"/>
            <a:r>
              <a:rPr sz="2200" b="0">
                <a:latin typeface="Calibri"/>
              </a:rPr>
              <a:t>Module 4: Unsharp Mask Preprocessing — edge sharpening for low-res frames</a:t>
            </a:r>
          </a:p>
          <a:p>
            <a:pPr lvl="1" algn="l"/>
            <a:r>
              <a:rPr sz="2200" b="0">
                <a:latin typeface="Calibri"/>
              </a:rPr>
              <a:t>Module 5: Custom ByteTrack Tracker — YAML config generation with tuned thresholds</a:t>
            </a:r>
          </a:p>
          <a:p>
            <a:pPr lvl="1" algn="l"/>
            <a:r>
              <a:rPr sz="2200" b="0">
                <a:latin typeface="Calibri"/>
              </a:rPr>
              <a:t>Module 6: Vector-Based Directional Counter — CCW + cross-product tripwire logic</a:t>
            </a:r>
          </a:p>
          <a:p>
            <a:pPr lvl="1" algn="l"/>
            <a:r>
              <a:rPr sz="2200" b="0">
                <a:latin typeface="Calibri"/>
              </a:rPr>
              <a:t>Module 7: Pause &amp; Resume System — global state manager with KeyboardInterrupt handling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8" name="Picture 7" descr="KL University Guntur: Courses, Fees, Admission 2026 ...">
            <a:extLst>
              <a:ext uri="{FF2B5EF4-FFF2-40B4-BE49-F238E27FC236}">
                <a16:creationId xmlns:a16="http://schemas.microsoft.com/office/drawing/2014/main" id="{38373F6D-CA48-0850-F181-AE9264F5A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0"/>
            <a:ext cx="1589995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TESTING&amp; RESULTS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400" b="1">
                <a:latin typeface="Calibri"/>
              </a:rPr>
              <a:t>Test Environment:</a:t>
            </a:r>
            <a:endParaRPr lang="en-US" dirty="0"/>
          </a:p>
          <a:p>
            <a:pPr lvl="1" algn="l"/>
            <a:r>
              <a:rPr sz="2200" b="0">
                <a:latin typeface="Calibri"/>
              </a:rPr>
              <a:t>Google Colab with NVIDIA T4 GPU (15GB VRAM)</a:t>
            </a:r>
          </a:p>
          <a:p>
            <a:pPr lvl="1" algn="l"/>
            <a:r>
              <a:rPr sz="2200" b="0">
                <a:latin typeface="Calibri"/>
              </a:rPr>
              <a:t>Test video: 960×540 resolution roundabout CCTV footage</a:t>
            </a:r>
          </a:p>
          <a:p>
            <a:pPr algn="l"/>
            <a:endParaRPr sz="2200" b="0">
              <a:latin typeface="Calibri"/>
            </a:endParaRPr>
          </a:p>
          <a:p>
            <a:pPr algn="l"/>
            <a:r>
              <a:rPr sz="2400" b="1">
                <a:latin typeface="Calibri"/>
              </a:rPr>
              <a:t>Key Results:</a:t>
            </a:r>
          </a:p>
          <a:p>
            <a:pPr lvl="1" algn="l"/>
            <a:r>
              <a:rPr sz="2200" b="0">
                <a:latin typeface="Calibri"/>
              </a:rPr>
              <a:t>YOLOv8 Large successfully detects vehicles in both HD and low-res footage</a:t>
            </a:r>
          </a:p>
          <a:p>
            <a:pPr lvl="1" algn="l"/>
            <a:r>
              <a:rPr sz="2200" b="0">
                <a:latin typeface="Calibri"/>
              </a:rPr>
              <a:t>Custom ByteTrack config reduces ID fragmentation on pixelated vehicles</a:t>
            </a:r>
          </a:p>
          <a:p>
            <a:pPr lvl="1" algn="l"/>
            <a:r>
              <a:rPr sz="2200" b="0">
                <a:latin typeface="Calibri"/>
              </a:rPr>
              <a:t>Vector-based tripwire eliminates double-counting caused by tracker ID reassignment</a:t>
            </a:r>
          </a:p>
          <a:p>
            <a:pPr lvl="1" algn="l"/>
            <a:r>
              <a:rPr sz="2200" b="0">
                <a:latin typeface="Calibri"/>
              </a:rPr>
              <a:t>Pause &amp; Resume feature preserves full tracking state across interruptions</a:t>
            </a:r>
          </a:p>
          <a:p>
            <a:pPr lvl="1" algn="l"/>
            <a:r>
              <a:rPr sz="2200" b="0">
                <a:latin typeface="Calibri"/>
              </a:rPr>
              <a:t>Adaptive engine correctly selects parameters for 360p, 540p, 720p, and 1080p inputs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8" name="Picture 7" descr="KL University Guntur: Courses, Fees, Admission 2026 ...">
            <a:extLst>
              <a:ext uri="{FF2B5EF4-FFF2-40B4-BE49-F238E27FC236}">
                <a16:creationId xmlns:a16="http://schemas.microsoft.com/office/drawing/2014/main" id="{F08C08E9-966B-351C-0038-F1D489B62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0"/>
            <a:ext cx="1589995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CONCLUSION&amp; FUTURE SCOPE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sz="2400" b="1">
                <a:latin typeface="Calibri"/>
              </a:rPr>
              <a:t>Conclusion:</a:t>
            </a:r>
            <a:endParaRPr lang="en-US" dirty="0"/>
          </a:p>
          <a:p>
            <a:pPr lvl="1" algn="l"/>
            <a:r>
              <a:rPr sz="2200" b="0">
                <a:latin typeface="Calibri"/>
              </a:rPr>
              <a:t>Successfully built an end-to-end vehicle detection, tracking, and counting pipeline optimized for low-resolution CCTV footage</a:t>
            </a:r>
          </a:p>
          <a:p>
            <a:pPr lvl="1" algn="l"/>
            <a:r>
              <a:rPr sz="2200" b="0">
                <a:latin typeface="Calibri"/>
              </a:rPr>
              <a:t>The adaptive resolution engine makes the system resolution-agnostic (144p to 4K)</a:t>
            </a:r>
          </a:p>
          <a:p>
            <a:pPr lvl="1" algn="l"/>
            <a:r>
              <a:rPr sz="2200" b="0">
                <a:latin typeface="Calibri"/>
              </a:rPr>
              <a:t>Vector-based directional counting is significantly more accurate than simple ID-based methods</a:t>
            </a:r>
          </a:p>
          <a:p>
            <a:pPr algn="l"/>
            <a:endParaRPr sz="2200" b="0">
              <a:latin typeface="Calibri"/>
            </a:endParaRPr>
          </a:p>
          <a:p>
            <a:pPr algn="l"/>
            <a:r>
              <a:rPr sz="2400" b="1">
                <a:latin typeface="Calibri"/>
              </a:rPr>
              <a:t>Future Scope (CP-2):</a:t>
            </a:r>
          </a:p>
          <a:p>
            <a:pPr lvl="1" algn="l"/>
            <a:r>
              <a:rPr sz="2200" b="0">
                <a:latin typeface="Calibri"/>
              </a:rPr>
              <a:t>Stopped Vehicle / Anomaly Detection for traffic safety monitoring</a:t>
            </a:r>
          </a:p>
          <a:p>
            <a:pPr lvl="1" algn="l"/>
            <a:r>
              <a:rPr sz="2200" b="0">
                <a:latin typeface="Calibri"/>
              </a:rPr>
              <a:t>Trajectory Heatmap Generation for spatial traffic flow analysis</a:t>
            </a:r>
          </a:p>
          <a:p>
            <a:pPr lvl="1" algn="l"/>
            <a:r>
              <a:rPr sz="2200" b="0">
                <a:latin typeface="Calibri"/>
              </a:rPr>
              <a:t>Speed Estimation using calibrated real-world distance markers</a:t>
            </a:r>
          </a:p>
          <a:p>
            <a:pPr lvl="1" algn="l"/>
            <a:r>
              <a:rPr sz="2200" b="0">
                <a:latin typeface="Calibri"/>
              </a:rPr>
              <a:t>Web Dashboard (Streamlit) for interactive visualization and reporting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8" name="Picture 7" descr="KL University Guntur: Courses, Fees, Admission 2026 ...">
            <a:extLst>
              <a:ext uri="{FF2B5EF4-FFF2-40B4-BE49-F238E27FC236}">
                <a16:creationId xmlns:a16="http://schemas.microsoft.com/office/drawing/2014/main" id="{EDB97B66-C50D-CD5C-271D-11BBA7E8E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0"/>
            <a:ext cx="1589995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21-09-2026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Review-II                                                        Department of CSE-2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3" name="Picture 2" descr="KL University Guntur: Courses, Fees, Admission 2026 ...">
            <a:extLst>
              <a:ext uri="{FF2B5EF4-FFF2-40B4-BE49-F238E27FC236}">
                <a16:creationId xmlns:a16="http://schemas.microsoft.com/office/drawing/2014/main" id="{25735C75-4487-5B7D-EC2D-7F09444A5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0"/>
            <a:ext cx="158999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3037</TotalTime>
  <Words>1027</Words>
  <Application>Microsoft Office PowerPoint</Application>
  <PresentationFormat>Widescreen</PresentationFormat>
  <Paragraphs>154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Custom Design</vt:lpstr>
      <vt:lpstr>REVIEW-II  Traffic Volume Estimation and Short-Term Congestion Forecasting </vt:lpstr>
      <vt:lpstr>OUTLINE</vt:lpstr>
      <vt:lpstr>INTRODUCTION</vt:lpstr>
      <vt:lpstr>PROBLEM STATEMENT &amp; OBJECTIVES</vt:lpstr>
      <vt:lpstr>FUNCTIONAL &amp; NON-FUNCTIONAL REQUIREMENTS </vt:lpstr>
      <vt:lpstr>ALTERNATIVE SOLUTIONS &amp; TRADE-OFF ANALYSIS</vt:lpstr>
      <vt:lpstr>COMPLETE SYSTEM ARCHITECTURE</vt:lpstr>
      <vt:lpstr> DETAILED DESIGN &amp; DATA FLOW</vt:lpstr>
      <vt:lpstr>IMPLEMENTATION &amp; UNIT-LEVEL PROGRESS</vt:lpstr>
      <vt:lpstr>TESTING&amp; RESULTS  </vt:lpstr>
      <vt:lpstr>CONCLUSION&amp; FUTURE SCOPE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NOSSAM REVANTH KUMAR REDDY</cp:lastModifiedBy>
  <cp:revision>51</cp:revision>
  <dcterms:created xsi:type="dcterms:W3CDTF">2022-05-20T10:20:31Z</dcterms:created>
  <dcterms:modified xsi:type="dcterms:W3CDTF">2026-09-22T13:28:00Z</dcterms:modified>
</cp:coreProperties>
</file>